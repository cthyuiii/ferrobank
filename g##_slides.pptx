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One-liner: FerroBank is an iron-clad core-banking platform: it moves money safely under heavy concurrent load, proves every action in an audit trail, and enforces real bank controls. Three pillars to repeat all deck: Safe, Accountable, Controlled. Introduce the group and the five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 the three pillars: Safe, Accountable, Controlled. Each member presents exactly once as a continuous block, opening with their flow chart then live scenarios. State chains across members: the customer M2 registers is the account M3 approves; the money M4 moves funds M5's repayment.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0 from FLOWS.md. Emphasise separation of concerns: handlers are deliberately thin, services are thick and own all transactions. Everything is async on Tokio. Pages are fully server-side rendered; the only JSON endpoints are small polls.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each OOP requirement to code. OtpChannel makes substitutability concrete: TelegramOtp vs ScreenOtp, swappable without touching the engine. Rust has no class inheritance; supertraits and service composition (AdminService composing the others) are the idiomatic substitute. The compiler proves there are no data 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1 is the Platform Lead. Owns the contract everyone else builds on. Open with Flow 0 (stack) and Flow 10 (sessions/TTL). Live: RBAC tour + friendly 403, inactivity logout, fraud panel tour, audit show-more + per-user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10. RBAC means role-based access control. The guard is cross-cutting, written once in middleware, not repeated in handlers. TTL on DB time so it can't be gamed by a stopped clock. Demo the friendly 403 and the inactivity logout with the reason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race demo is the visual twin of the integration tests, a recordable proof of the concurrency-safe engine. Audit log proves accountability: every action attributable to a person. Show the per-user filter when investigating.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1 live block. Walk these four scenarios from DEMO_SCENARIOS.md. Keep each tight; the audit per-user filter is the accountability money-shot.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2 owns identity. Open with Flow 1 (registration/login), Flow 9 (profile/linking), Flow 13 (device tracking).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1. Stress security-in-depth: hashing, enumeration resistance, and the explicit no-auto-login choice. All inputs validated for length and shape before hitting the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Flows 9 + 13. The step-up gate means a stolen password alone is not enough from a new origin. Staff get a per-user investigation view combining logins, blocks, accounts and transfers.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2 live block. The step-up before any session (S20) and the new-device alert (S19) are the headline moments.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3 owns accounts and the controls around balances. Open with Flow 2 (opening/approval), Flow 6 (limit hold), Flow 8 (dual-control adjustments).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2. Maker-checker is a real bank control: the person who requests is not the person who approves. The pending page polls status and refreshes itself the moment staff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Flows 6 + 8. A hijacked session must not raise the ceiling and drain in one sitting, hence the 12-hour hold. Dual control on large balance edits is the four-eyes principle applied to staff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3 live block. The 10-second limit hold (S14) maturing on camera is the most demo-friendly; Alice's seed account is set to 10s for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4 owns the technical heart of the Banking System domain: the concurrency-safe money transfer engine. Open with Flows 3, 4, 5, 11. This block gets the most time (8:00 to 12:00).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3. Walk the two phases. Highlight the reservation steps (blue): previously a held transfer reserved nothing, so the account could be drained and the release would fail. Now funds are reserved at create and re-checked under lock at confirm. This is the fix we just shipped.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4. A blocked second transaction waits on the first's lock, re-reads the real balance, and is rejected if funds no longer suffice. This is the property the tests assert: no overdraft, no lost money, no double spend. Run the race demo and cargo test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5. Fraud rules run under the same locks as the money move, so a hold can never race a completion. Insufficient funds is pre-checked and never flagged. Demo the full hold then purpose+NRIC then release/deny, then the hijack freeze after 3 overdrafts.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4's individual extended feature and a clean OOP showcase: a trait with two implementations, chosen at startup. Every sensitive action shares one OTP guard. The third wrong code cancels the pending action outright.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4 live block, the centrepiece. The race demo + cargo test (S3) is the headline proof of the concurrency-safe engine; spend the most time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5 owns loans and the system lifecycle. Open with Flow 7 (loan lifecycle) and Flow 12 (shutdown snapshot).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7. Four-eyes is enforced physically by the schema: a UNIQUE(loan_id, role) constraint makes the second approval come from a different role even if a service bug were introduced.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12. Clarify what the snapshot is and isn't: a forensic marker on graceful shutdown, not crash recovery; committed transactions are already durable in the 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5 live block, and the closer. End the recording on the shutdown snapshot (S12) for a clean finish.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ER model. Integrity is enforced in the schema itself, not just in code: CHECK constraints, the UNIQUE(loan,role) four-eyes guard, and triggers. Full field-level ER with constraints is in docs/er_diagram.mermaid.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concurrency tests prove the engine's invariants under genuine simultaneous load. The race demo is the visual, recordable twin. cargo test runs unit tests anywhere; the integration tests need a live Postgres.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Stating limitations honestly is part of the marking criteria and good engineering. The OtpChannel trait makes SMS a genuine drop-in.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three pillars, one sentence each (Member 1 voice-over outro). FerroBank implements the Banking System domain with real engineering substance.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1234440"/>
            <a:ext cx="1371600" cy="1371600"/>
          </a:xfrm>
          <a:prstGeom prst="roundRect">
            <a:avLst>
              <a:gd name="adj" fmla="val 16000"/>
            </a:avLst>
          </a:prstGeom>
          <a:solidFill>
            <a:srgbClr val="5CB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197864"/>
            <a:ext cx="1371600" cy="13716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4000" b="1" i="0">
                <a:solidFill>
                  <a:srgbClr val="10151D"/>
                </a:solidFill>
                <a:latin typeface="Trebuchet MS"/>
              </a:rPr>
              <a:t>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8568" y="1143000"/>
            <a:ext cx="91440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5CB6EA"/>
                </a:solidFill>
                <a:latin typeface="Trebuchet MS"/>
              </a:rPr>
              <a:t>CSC1106 WEB PROGRAMMING  ·  GROUP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12848" y="1463040"/>
            <a:ext cx="10058400" cy="10972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6600" b="1" i="0">
                <a:solidFill>
                  <a:srgbClr val="EAF0F7"/>
                </a:solidFill>
                <a:latin typeface="Trebuchet MS"/>
              </a:rPr>
              <a:t>FerroBank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8568" y="2697480"/>
            <a:ext cx="100584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000" b="0" i="1">
                <a:solidFill>
                  <a:srgbClr val="9DB0C8"/>
                </a:solidFill>
                <a:latin typeface="Trebuchet MS"/>
              </a:rPr>
              <a:t>Iron-clad core banking, built in 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611880"/>
            <a:ext cx="1133856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 i="0">
                <a:solidFill>
                  <a:srgbClr val="EAF0F7"/>
                </a:solidFill>
                <a:latin typeface="Calibri"/>
              </a:rPr>
              <a:t>A concurrency-safe, server-side-rendered retail banking platform for the Banking System domain.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16052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161C26"/>
          </a:solidFill>
          <a:ln w="12700">
            <a:solidFill>
              <a:srgbClr val="5CB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160520"/>
            <a:ext cx="82296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150" b="1" i="0">
                <a:solidFill>
                  <a:srgbClr val="5CB6EA"/>
                </a:solidFill>
                <a:latin typeface="Calibri"/>
              </a:rPr>
              <a:t>Rust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4160520"/>
            <a:ext cx="1719072" cy="384048"/>
          </a:xfrm>
          <a:prstGeom prst="roundRect">
            <a:avLst>
              <a:gd name="adj" fmla="val 50000"/>
            </a:avLst>
          </a:prstGeom>
          <a:solidFill>
            <a:srgbClr val="161C26"/>
          </a:solidFill>
          <a:ln w="12700">
            <a:solidFill>
              <a:srgbClr val="5CB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160520"/>
            <a:ext cx="1719072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150" b="1" i="0">
                <a:solidFill>
                  <a:srgbClr val="5CB6EA"/>
                </a:solidFill>
                <a:latin typeface="Calibri"/>
              </a:rPr>
              <a:t>Actix Web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4160520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161C26"/>
          </a:solidFill>
          <a:ln w="12700">
            <a:solidFill>
              <a:srgbClr val="5CB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4160520"/>
            <a:ext cx="1975104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150" b="1" i="0">
                <a:solidFill>
                  <a:srgbClr val="5CB6EA"/>
                </a:solidFill>
                <a:latin typeface="Calibri"/>
              </a:rPr>
              <a:t>PostgreSQL 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416052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161C26"/>
          </a:solidFill>
          <a:ln w="12700">
            <a:solidFill>
              <a:srgbClr val="5CB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4160520"/>
            <a:ext cx="82296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150" b="1" i="0">
                <a:solidFill>
                  <a:srgbClr val="5CB6EA"/>
                </a:solidFill>
                <a:latin typeface="Calibri"/>
              </a:rPr>
              <a:t>SQLx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65392" y="4160520"/>
            <a:ext cx="1591056" cy="384048"/>
          </a:xfrm>
          <a:prstGeom prst="roundRect">
            <a:avLst>
              <a:gd name="adj" fmla="val 50000"/>
            </a:avLst>
          </a:prstGeom>
          <a:solidFill>
            <a:srgbClr val="161C26"/>
          </a:solidFill>
          <a:ln w="12700">
            <a:solidFill>
              <a:srgbClr val="5CB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160520"/>
            <a:ext cx="1591056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150" b="1" i="0">
                <a:solidFill>
                  <a:srgbClr val="5CB6EA"/>
                </a:solidFill>
                <a:latin typeface="Calibri"/>
              </a:rPr>
              <a:t>Askama SSR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4160520"/>
            <a:ext cx="1847088" cy="384048"/>
          </a:xfrm>
          <a:prstGeom prst="roundRect">
            <a:avLst>
              <a:gd name="adj" fmla="val 50000"/>
            </a:avLst>
          </a:prstGeom>
          <a:solidFill>
            <a:srgbClr val="161C26"/>
          </a:solidFill>
          <a:ln w="12700">
            <a:solidFill>
              <a:srgbClr val="5CB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160520"/>
            <a:ext cx="1847088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150" b="1" i="0">
                <a:solidFill>
                  <a:srgbClr val="5CB6EA"/>
                </a:solidFill>
                <a:latin typeface="Calibri"/>
              </a:rPr>
              <a:t>Telegram OTP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416052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161C26"/>
          </a:solidFill>
          <a:ln w="12700">
            <a:solidFill>
              <a:srgbClr val="5CB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4160520"/>
            <a:ext cx="1335024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150" b="1" i="0">
                <a:solidFill>
                  <a:srgbClr val="5CB6EA"/>
                </a:solidFill>
                <a:latin typeface="Calibri"/>
              </a:rPr>
              <a:t>argon2id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074920"/>
            <a:ext cx="113385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1" i="0">
                <a:solidFill>
                  <a:srgbClr val="EAF0F7"/>
                </a:solidFill>
                <a:latin typeface="Calibri"/>
              </a:rPr>
              <a:t>Group  g##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413248"/>
            <a:ext cx="1133856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50" b="0" i="0">
                <a:solidFill>
                  <a:srgbClr val="9DB0C8"/>
                </a:solidFill>
                <a:latin typeface="Calibri"/>
              </a:rPr>
              <a:t>[ Name 1 · SIT ID ]     [ Name 2 · SIT ID ]     [ Name 3 · SIT ID ]     [ Name 4 · SIT ID ]     [ Name 5 · SIT ID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5CB6EA"/>
                </a:solidFill>
                <a:latin typeface="Trebuchet M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Three pillars, and who proves each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3456432" cy="1874519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7780">
            <a:solidFill>
              <a:srgbClr val="5CB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30175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900" b="1" i="0">
                <a:solidFill>
                  <a:srgbClr val="5CB6EA"/>
                </a:solidFill>
                <a:latin typeface="Trebuchet MS"/>
              </a:rPr>
              <a:t>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240280"/>
            <a:ext cx="3017520" cy="1143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50" b="0" i="0">
                <a:solidFill>
                  <a:srgbClr val="9DB0C8"/>
                </a:solidFill>
                <a:latin typeface="Calibri"/>
              </a:rPr>
              <a:t>Money is never created or destroyed by a race. FOR UPDATE row locks, explicit rollback, Mutex rate-limiter, NUMERIC money.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42816" y="1600200"/>
            <a:ext cx="3456432" cy="1874519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7780">
            <a:solidFill>
              <a:srgbClr val="5CBD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783080"/>
            <a:ext cx="30175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900" b="1" i="0">
                <a:solidFill>
                  <a:srgbClr val="5CBD92"/>
                </a:solidFill>
                <a:latin typeface="Trebuchet MS"/>
              </a:rPr>
              <a:t>Accountable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240280"/>
            <a:ext cx="3017520" cy="1143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50" b="0" i="0">
                <a:solidFill>
                  <a:srgbClr val="9DB0C8"/>
                </a:solidFill>
                <a:latin typeface="Calibri"/>
              </a:rPr>
              <a:t>Every state change is attributable. Append-only audit log, per-user request trail, shutdown snapshots, NRIC identity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18703" y="1600200"/>
            <a:ext cx="3456432" cy="1874519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7780">
            <a:solidFill>
              <a:srgbClr val="E3A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7" y="1783080"/>
            <a:ext cx="30175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900" b="1" i="0">
                <a:solidFill>
                  <a:srgbClr val="E3A948"/>
                </a:solidFill>
                <a:latin typeface="Trebuchet MS"/>
              </a:rPr>
              <a:t>Controlled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7" y="2240280"/>
            <a:ext cx="3017520" cy="1143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50" b="0" i="0">
                <a:solidFill>
                  <a:srgbClr val="9DB0C8"/>
                </a:solidFill>
                <a:latin typeface="Calibri"/>
              </a:rPr>
              <a:t>No single credential moves funds. RBAC, maker-checker, four-eyes loans, out-of-band OTP, limit holds, auto-freeze.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474720"/>
            <a:ext cx="109728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EAF0F7"/>
                </a:solidFill>
                <a:latin typeface="Trebuchet MS"/>
              </a:rPr>
              <a:t>Presenter roadmap (about 15 min, one continuous block each)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67328"/>
            <a:ext cx="457200" cy="402336"/>
          </a:xfrm>
          <a:prstGeom prst="roundRect">
            <a:avLst>
              <a:gd name="adj" fmla="val 20000"/>
            </a:avLst>
          </a:prstGeom>
          <a:solidFill>
            <a:srgbClr val="46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749040"/>
            <a:ext cx="45720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10151D"/>
                </a:solidFill>
                <a:latin typeface="Trebuchet MS"/>
              </a:rPr>
              <a:t>M1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767328"/>
            <a:ext cx="274320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EAF0F7"/>
                </a:solidFill>
                <a:latin typeface="Calibri"/>
              </a:rPr>
              <a:t>Platform &amp; 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3767328"/>
            <a:ext cx="566928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9DB0C8"/>
                </a:solidFill>
                <a:latin typeface="Calibri"/>
              </a:rPr>
              <a:t>RBAC · middleware · audit · race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7" y="3767328"/>
            <a:ext cx="201168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/>
            <a:r>
              <a:rPr sz="1200" b="1" i="0">
                <a:solidFill>
                  <a:srgbClr val="46C6C0"/>
                </a:solidFill>
                <a:latin typeface="Calibri"/>
              </a:rPr>
              <a:t>0:00-2:45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270248"/>
            <a:ext cx="457200" cy="402336"/>
          </a:xfrm>
          <a:prstGeom prst="roundRect">
            <a:avLst>
              <a:gd name="adj" fmla="val 20000"/>
            </a:avLst>
          </a:prstGeom>
          <a:solidFill>
            <a:srgbClr val="5CB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251960"/>
            <a:ext cx="45720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10151D"/>
                </a:solidFill>
                <a:latin typeface="Trebuchet MS"/>
              </a:rPr>
              <a:t>M2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4270248"/>
            <a:ext cx="274320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EAF0F7"/>
                </a:solidFill>
                <a:latin typeface="Calibri"/>
              </a:rPr>
              <a:t>Auth &amp; Identity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0208" y="4270248"/>
            <a:ext cx="566928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9DB0C8"/>
                </a:solidFill>
                <a:latin typeface="Calibri"/>
              </a:rPr>
              <a:t>step-up login · device tracking · Telegram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7" y="4270248"/>
            <a:ext cx="201168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/>
            <a:r>
              <a:rPr sz="1200" b="1" i="0">
                <a:solidFill>
                  <a:srgbClr val="5CB6EA"/>
                </a:solidFill>
                <a:latin typeface="Calibri"/>
              </a:rPr>
              <a:t>2:45-5:30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773168"/>
            <a:ext cx="457200" cy="402336"/>
          </a:xfrm>
          <a:prstGeom prst="roundRect">
            <a:avLst>
              <a:gd name="adj" fmla="val 20000"/>
            </a:avLst>
          </a:prstGeom>
          <a:solidFill>
            <a:srgbClr val="5CB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754880"/>
            <a:ext cx="45720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10151D"/>
                </a:solidFill>
                <a:latin typeface="Trebuchet MS"/>
              </a:rPr>
              <a:t>M3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773168"/>
            <a:ext cx="274320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EAF0F7"/>
                </a:solidFill>
                <a:latin typeface="Calibri"/>
              </a:rPr>
              <a:t>Accounts &amp; Limits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0208" y="4773168"/>
            <a:ext cx="566928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9DB0C8"/>
                </a:solidFill>
                <a:latin typeface="Calibri"/>
              </a:rPr>
              <a:t>maker-checker · limit holds · dual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7" y="4773168"/>
            <a:ext cx="201168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/>
            <a:r>
              <a:rPr sz="1200" b="1" i="0">
                <a:solidFill>
                  <a:srgbClr val="5CBD92"/>
                </a:solidFill>
                <a:latin typeface="Calibri"/>
              </a:rPr>
              <a:t>5:30-8:00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276088"/>
            <a:ext cx="457200" cy="402336"/>
          </a:xfrm>
          <a:prstGeom prst="roundRect">
            <a:avLst>
              <a:gd name="adj" fmla="val 20000"/>
            </a:avLst>
          </a:prstGeom>
          <a:solidFill>
            <a:srgbClr val="E3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257800"/>
            <a:ext cx="45720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10151D"/>
                </a:solidFill>
                <a:latin typeface="Trebuchet MS"/>
              </a:rPr>
              <a:t>M4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" y="5276088"/>
            <a:ext cx="274320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EAF0F7"/>
                </a:solidFill>
                <a:latin typeface="Calibri"/>
              </a:rPr>
              <a:t>Transfer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0208" y="5276088"/>
            <a:ext cx="566928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9DB0C8"/>
                </a:solidFill>
                <a:latin typeface="Calibri"/>
              </a:rPr>
              <a:t>concurrency · fraud holds · OTP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7" y="5276088"/>
            <a:ext cx="201168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/>
            <a:r>
              <a:rPr sz="1200" b="1" i="0">
                <a:solidFill>
                  <a:srgbClr val="E3A948"/>
                </a:solidFill>
                <a:latin typeface="Calibri"/>
              </a:rPr>
              <a:t>8:00-12:00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779008"/>
            <a:ext cx="457200" cy="402336"/>
          </a:xfrm>
          <a:prstGeom prst="roundRect">
            <a:avLst>
              <a:gd name="adj" fmla="val 20000"/>
            </a:avLst>
          </a:prstGeom>
          <a:solidFill>
            <a:srgbClr val="B29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760720"/>
            <a:ext cx="45720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1" i="0">
                <a:solidFill>
                  <a:srgbClr val="10151D"/>
                </a:solidFill>
                <a:latin typeface="Trebuchet MS"/>
              </a:rPr>
              <a:t>M5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5779008"/>
            <a:ext cx="274320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EAF0F7"/>
                </a:solidFill>
                <a:latin typeface="Calibri"/>
              </a:rPr>
              <a:t>Loans &amp; Lifecycle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0208" y="5779008"/>
            <a:ext cx="566928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9DB0C8"/>
                </a:solidFill>
                <a:latin typeface="Calibri"/>
              </a:rPr>
              <a:t>four-eyes approval · repayments · snapshot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7" y="5779008"/>
            <a:ext cx="2011680" cy="4023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/>
            <a:r>
              <a:rPr sz="1200" b="1" i="0">
                <a:solidFill>
                  <a:srgbClr val="B29AE6"/>
                </a:solidFill>
                <a:latin typeface="Calibri"/>
              </a:rPr>
              <a:t>12:00-14:40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5CB6EA"/>
                </a:solidFill>
                <a:latin typeface="Trebuchet MS"/>
              </a:rPr>
              <a:t>GROUP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Architecture: thin handlers, thick services</a:t>
            </a:r>
          </a:p>
        </p:txBody>
      </p:sp>
      <p:pic>
        <p:nvPicPr>
          <p:cNvPr id="4" name="Picture 3" descr="arch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561"/>
            <a:ext cx="11064240" cy="15552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3977639"/>
            <a:ext cx="1106424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50" b="0" i="1">
                <a:solidFill>
                  <a:srgbClr val="9DB0C8"/>
                </a:solidFill>
                <a:latin typeface="Calibri"/>
              </a:rPr>
              <a:t>Request path: Browser to session middleware, ActivityGuard, RequireRole, handler (thin), service trait (thick), SQLx transaction, PostgreSQL, Askama, HTML.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434840"/>
            <a:ext cx="6583680" cy="1828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Layered &amp; modular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handlers parse + render; all business rules live behind seven service traits.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Async throughout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Tokio runtime; every DB and network call awaits, so few threads serve many sessions.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Server-side rendered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Askama templates checked at compile time; a renamed field is a build error, not a 500.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16367" y="4370832"/>
            <a:ext cx="4114800" cy="1874519"/>
          </a:xfrm>
          <a:prstGeom prst="roundRect">
            <a:avLst>
              <a:gd name="adj" fmla="val 5000"/>
            </a:avLst>
          </a:prstGeom>
          <a:solidFill>
            <a:srgbClr val="1E2734"/>
          </a:solidFill>
          <a:ln w="12700">
            <a:solidFill>
              <a:srgbClr val="3A4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7" y="4498848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5CB6EA"/>
                </a:solidFill>
                <a:latin typeface="Trebuchet MS"/>
              </a:rPr>
              <a:t>Stack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7" y="4828032"/>
            <a:ext cx="3703320" cy="1371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0">
                <a:solidFill>
                  <a:srgbClr val="9DB0C8"/>
                </a:solidFill>
                <a:latin typeface="Calibri"/>
              </a:rPr>
              <a:t>Framework:  </a:t>
            </a:r>
            <a:r>
              <a:rPr sz="1200" b="0" i="0">
                <a:solidFill>
                  <a:srgbClr val="EAF0F7"/>
                </a:solidFill>
                <a:latin typeface="Calibri"/>
              </a:rPr>
              <a:t>Actix Web 4 (Rust)</a:t>
            </a:r>
          </a:p>
          <a:p>
            <a:pPr>
              <a:spcAft>
                <a:spcPts val="300"/>
              </a:spcAft>
            </a:pPr>
            <a:r>
              <a:rPr sz="1200" b="1" i="0">
                <a:solidFill>
                  <a:srgbClr val="9DB0C8"/>
                </a:solidFill>
                <a:latin typeface="Calibri"/>
              </a:rPr>
              <a:t>Templates:  </a:t>
            </a:r>
            <a:r>
              <a:rPr sz="1200" b="0" i="0">
                <a:solidFill>
                  <a:srgbClr val="EAF0F7"/>
                </a:solidFill>
                <a:latin typeface="Calibri"/>
              </a:rPr>
              <a:t>Askama (compile-time)</a:t>
            </a:r>
          </a:p>
          <a:p>
            <a:pPr>
              <a:spcAft>
                <a:spcPts val="300"/>
              </a:spcAft>
            </a:pPr>
            <a:r>
              <a:rPr sz="1200" b="1" i="0">
                <a:solidFill>
                  <a:srgbClr val="9DB0C8"/>
                </a:solidFill>
                <a:latin typeface="Calibri"/>
              </a:rPr>
              <a:t>Database:  </a:t>
            </a:r>
            <a:r>
              <a:rPr sz="1200" b="0" i="0">
                <a:solidFill>
                  <a:srgbClr val="EAF0F7"/>
                </a:solidFill>
                <a:latin typeface="Calibri"/>
              </a:rPr>
              <a:t>PostgreSQL 16 · SQLx</a:t>
            </a:r>
          </a:p>
          <a:p>
            <a:pPr>
              <a:spcAft>
                <a:spcPts val="300"/>
              </a:spcAft>
            </a:pPr>
            <a:r>
              <a:rPr sz="1200" b="1" i="0">
                <a:solidFill>
                  <a:srgbClr val="9DB0C8"/>
                </a:solidFill>
                <a:latin typeface="Calibri"/>
              </a:rPr>
              <a:t>Money:  </a:t>
            </a:r>
            <a:r>
              <a:rPr sz="1200" b="0" i="0">
                <a:solidFill>
                  <a:srgbClr val="EAF0F7"/>
                </a:solidFill>
                <a:latin typeface="Calibri"/>
              </a:rPr>
              <a:t>NUMERIC, not floats</a:t>
            </a:r>
          </a:p>
          <a:p>
            <a:pPr>
              <a:spcAft>
                <a:spcPts val="300"/>
              </a:spcAft>
            </a:pPr>
            <a:r>
              <a:rPr sz="1200" b="1" i="0">
                <a:solidFill>
                  <a:srgbClr val="9DB0C8"/>
                </a:solidFill>
                <a:latin typeface="Calibri"/>
              </a:rPr>
              <a:t>OTP:  </a:t>
            </a:r>
            <a:r>
              <a:rPr sz="1200" b="0" i="0">
                <a:solidFill>
                  <a:srgbClr val="EAF0F7"/>
                </a:solidFill>
                <a:latin typeface="Calibri"/>
              </a:rPr>
              <a:t>Telegram Bot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5CB6EA"/>
                </a:solidFill>
                <a:latin typeface="Trebuchet MS"/>
              </a:rPr>
              <a:t>GROUP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Object-oriented design in Rust</a:t>
            </a:r>
          </a:p>
        </p:txBody>
      </p:sp>
      <p:pic>
        <p:nvPicPr>
          <p:cNvPr id="4" name="Picture 3" descr="oop_tra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831" y="1554480"/>
            <a:ext cx="9406432" cy="2743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4526280"/>
            <a:ext cx="2578608" cy="1600200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6510">
            <a:solidFill>
              <a:srgbClr val="5CB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645152"/>
            <a:ext cx="22860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50" b="1" i="0">
                <a:solidFill>
                  <a:srgbClr val="5CB6EA"/>
                </a:solidFill>
                <a:latin typeface="Trebuchet MS"/>
              </a:rPr>
              <a:t>Encapsulation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074920"/>
            <a:ext cx="2286000" cy="9601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50" b="0" i="0">
                <a:solidFill>
                  <a:srgbClr val="9DB0C8"/>
                </a:solidFill>
                <a:latin typeface="Calibri"/>
              </a:rPr>
              <a:t>Each Pg service hides a private pool; callers touch only trait methods.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8416" y="4526280"/>
            <a:ext cx="2578608" cy="1600200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6510">
            <a:solidFill>
              <a:srgbClr val="5CBD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4645152"/>
            <a:ext cx="22860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50" b="1" i="0">
                <a:solidFill>
                  <a:srgbClr val="5CBD92"/>
                </a:solidFill>
                <a:latin typeface="Trebuchet MS"/>
              </a:rPr>
              <a:t>Abstraction (traits)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1296" y="5074920"/>
            <a:ext cx="2286000" cy="9601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50" b="0" i="0">
                <a:solidFill>
                  <a:srgbClr val="9DB0C8"/>
                </a:solidFill>
                <a:latin typeface="Calibri"/>
              </a:rPr>
              <a:t>Seven service traits define behaviour; structs implement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9904" y="4526280"/>
            <a:ext cx="2578608" cy="1600200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6510">
            <a:solidFill>
              <a:srgbClr val="E3A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4" y="4645152"/>
            <a:ext cx="22860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50" b="1" i="0">
                <a:solidFill>
                  <a:srgbClr val="E3A948"/>
                </a:solidFill>
                <a:latin typeface="Trebuchet MS"/>
              </a:rPr>
              <a:t>Polymorphism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4" y="5074920"/>
            <a:ext cx="2286000" cy="9601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50" b="0" i="0">
                <a:solidFill>
                  <a:srgbClr val="9DB0C8"/>
                </a:solidFill>
                <a:latin typeface="Calibri"/>
              </a:rPr>
              <a:t>Arc&lt;dyn Trait&gt; dynamic dispatch, generics, enum methods.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4526280"/>
            <a:ext cx="2578608" cy="1600200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6510">
            <a:solidFill>
              <a:srgbClr val="B29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4645152"/>
            <a:ext cx="22860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50" b="1" i="0">
                <a:solidFill>
                  <a:srgbClr val="B29AE6"/>
                </a:solidFill>
                <a:latin typeface="Trebuchet MS"/>
              </a:rPr>
              <a:t>Concurrency 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5074920"/>
            <a:ext cx="2286000" cy="9601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50" b="0" i="0">
                <a:solidFill>
                  <a:srgbClr val="9DB0C8"/>
                </a:solidFill>
                <a:latin typeface="Calibri"/>
              </a:rPr>
              <a:t>Arc-shared, Mutex-guarded state over DB row locks.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02920"/>
            <a:ext cx="960120" cy="960120"/>
          </a:xfrm>
          <a:prstGeom prst="roundRect">
            <a:avLst>
              <a:gd name="adj" fmla="val 18000"/>
            </a:avLst>
          </a:prstGeom>
          <a:solidFill>
            <a:srgbClr val="46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84632"/>
            <a:ext cx="960120" cy="9601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4200" b="1" i="0">
                <a:solidFill>
                  <a:srgbClr val="10151D"/>
                </a:solidFill>
                <a:latin typeface="Trebuchet M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9928" y="502920"/>
            <a:ext cx="9601200" cy="10058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 i="0" spc="180">
                <a:solidFill>
                  <a:srgbClr val="46C6C0"/>
                </a:solidFill>
                <a:latin typeface="Trebuchet MS"/>
              </a:rPr>
              <a:t>MEMBER 1</a:t>
            </a:r>
          </a:p>
          <a:p>
            <a:r>
              <a:rPr sz="2700" b="1" i="0">
                <a:solidFill>
                  <a:srgbClr val="EAF0F7"/>
                </a:solidFill>
                <a:latin typeface="Trebuchet MS"/>
              </a:rPr>
              <a:t>Platform, security middleware &amp;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9928" y="1444752"/>
            <a:ext cx="96012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50" b="0" i="1">
                <a:solidFill>
                  <a:srgbClr val="9DB0C8"/>
                </a:solidFill>
                <a:latin typeface="Calibri"/>
              </a:rPr>
              <a:t>Presenter:  [ Name · SIT ID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5532120" cy="2743200"/>
          </a:xfrm>
          <a:prstGeom prst="roundRect">
            <a:avLst>
              <a:gd name="adj" fmla="val 5000"/>
            </a:avLst>
          </a:prstGeom>
          <a:solidFill>
            <a:srgbClr val="1E2734"/>
          </a:solidFill>
          <a:ln w="12700">
            <a:solidFill>
              <a:srgbClr val="3A4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 i="0">
                <a:solidFill>
                  <a:srgbClr val="46C6C0"/>
                </a:solidFill>
                <a:latin typeface="Trebuchet MS"/>
              </a:rPr>
              <a:t>Owns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5074920" cy="2011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Platform core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config · db pool · state · AppError to HTTP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Middleware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CurrentUser · RequireRole · ActivityGuard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Admin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admin handlers + AdminService · landing 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2057400"/>
            <a:ext cx="5532120" cy="2743200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7780">
            <a:solidFill>
              <a:srgbClr val="46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40280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 i="0">
                <a:solidFill>
                  <a:srgbClr val="46C6C0"/>
                </a:solidFill>
                <a:latin typeface="Trebuchet MS"/>
              </a:rPr>
              <a:t>★  Individual extended 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70048"/>
            <a:ext cx="5074920" cy="2011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Admin dashboard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fraud panel + audit log with per-user filter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Race demo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runs the REAL engine, proves money conservation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Resilience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graceful-shutdown system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074920"/>
            <a:ext cx="108813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46C6C0"/>
                </a:solidFill>
                <a:latin typeface="Trebuchet MS"/>
              </a:rPr>
              <a:t>In this 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394960"/>
            <a:ext cx="1097280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0" i="0">
                <a:solidFill>
                  <a:srgbClr val="9DB0C8"/>
                </a:solidFill>
                <a:latin typeface="Calibri"/>
              </a:rPr>
              <a:t>›  RBAC &amp; sessions</a:t>
            </a:r>
            <a:r>
              <a:rPr sz="1300" b="0" i="0">
                <a:solidFill>
                  <a:srgbClr val="5B6B86"/>
                </a:solidFill>
                <a:latin typeface="Calibri"/>
              </a:rPr>
              <a:t>     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›  Admin dashboard, audit &amp; race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46C6C0"/>
                </a:solidFill>
                <a:latin typeface="Trebuchet MS"/>
              </a:rPr>
              <a:t>MEMBER 1 · PLATFORM LEAD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Role-based access (RBAC), sessions &amp; the activity guard</a:t>
            </a:r>
          </a:p>
        </p:txBody>
      </p:sp>
      <p:pic>
        <p:nvPicPr>
          <p:cNvPr id="4" name="Picture 3" descr="rb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90704"/>
            <a:ext cx="4846320" cy="33166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79008" y="1737360"/>
            <a:ext cx="6126480" cy="4023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RequireRole guard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route scopes via .wrap(); admin is a superuser over teller.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CurrentUser extractor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implements Actix FromRequest; missing session redirects to /login.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ActivityGuard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logs user id + method + path on every request: the activity trail.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5-minute inactivity TTL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measured on database time, not the client clock.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Link enforcement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customers must link Telegram before using the bank.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Per-boot session key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secret + per-boot nonce, so a restart logs everyone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46C6C0"/>
                </a:solidFill>
                <a:latin typeface="Trebuchet MS"/>
              </a:rPr>
              <a:t>MEMBER 1 · PLATFORM LEAD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Admin dashboard, audit trail &amp; race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5852160" cy="4206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Dashboard snapshot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totals + fraud panel: large, structuring, velocity, rejected.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Append-only audit log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every state change; per-user filter + show-more.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Interactive race demo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fires N concurrent transfers through create then confirm.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Money-conservation card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start equals end to the cent, balance never negative.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Graceful shutdown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Ctrl-C writes a system.snapshot forensic marker.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93408" y="1737360"/>
            <a:ext cx="5212080" cy="1965960"/>
          </a:xfrm>
          <a:prstGeom prst="roundRect">
            <a:avLst>
              <a:gd name="adj" fmla="val 5000"/>
            </a:avLst>
          </a:prstGeom>
          <a:solidFill>
            <a:srgbClr val="161C26"/>
          </a:solidFill>
          <a:ln w="15875">
            <a:solidFill>
              <a:srgbClr val="46C6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30568" y="1737360"/>
            <a:ext cx="4937760" cy="19659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0" i="1">
                <a:solidFill>
                  <a:srgbClr val="9DB0C8"/>
                </a:solidFill>
                <a:latin typeface="Calibri"/>
              </a:rPr>
              <a:t>⊕  Insert screenshot: Admin dashboard / fraud panel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93408" y="3886200"/>
            <a:ext cx="5212080" cy="1965960"/>
          </a:xfrm>
          <a:prstGeom prst="roundRect">
            <a:avLst>
              <a:gd name="adj" fmla="val 5000"/>
            </a:avLst>
          </a:prstGeom>
          <a:solidFill>
            <a:srgbClr val="161C26"/>
          </a:solidFill>
          <a:ln w="15875">
            <a:solidFill>
              <a:srgbClr val="46C6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0568" y="3886200"/>
            <a:ext cx="4937760" cy="19659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0" i="1">
                <a:solidFill>
                  <a:srgbClr val="9DB0C8"/>
                </a:solidFill>
                <a:latin typeface="Calibri"/>
              </a:rPr>
              <a:t>⊕  Insert screenshot: Race demo result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46C6C0"/>
                </a:solidFill>
                <a:latin typeface="Trebuchet MS"/>
              </a:rPr>
              <a:t>MEMBER 1 ·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Demo: Platform &amp; admin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897880" cy="4480560"/>
          </a:xfrm>
          <a:prstGeom prst="roundRect">
            <a:avLst>
              <a:gd name="adj" fmla="val 5000"/>
            </a:avLst>
          </a:prstGeom>
          <a:solidFill>
            <a:srgbClr val="161C26"/>
          </a:solidFill>
          <a:ln w="15875">
            <a:solidFill>
              <a:srgbClr val="46C6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691640"/>
            <a:ext cx="5623560" cy="44805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0" i="1">
                <a:solidFill>
                  <a:srgbClr val="9DB0C8"/>
                </a:solidFill>
                <a:latin typeface="Calibri"/>
              </a:rPr>
              <a:t>⊕  Insert screen recording: RBAC, dashboard, audit &amp; inactivity logout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691640"/>
            <a:ext cx="4937760" cy="4480560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6510">
            <a:solidFill>
              <a:srgbClr val="46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856231"/>
            <a:ext cx="45720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 i="0">
                <a:solidFill>
                  <a:srgbClr val="46C6C0"/>
                </a:solidFill>
                <a:latin typeface="Trebuchet MS"/>
              </a:rPr>
              <a:t>Demo script  (scenarios)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331720"/>
            <a:ext cx="4526280" cy="3703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25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46C6C0"/>
                </a:solidFill>
                <a:latin typeface="Calibri"/>
              </a:rPr>
              <a:t>S1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RBAC tour + friendly 403 page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25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46C6C0"/>
                </a:solidFill>
                <a:latin typeface="Calibri"/>
              </a:rPr>
              <a:t>S17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Inactivity logout after 5 minutes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25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46C6C0"/>
                </a:solidFill>
                <a:latin typeface="Calibri"/>
              </a:rPr>
              <a:t>S6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Fraud panel tour on the dashboard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250" b="1" i="0">
                <a:solidFill>
                  <a:srgbClr val="46C6C0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46C6C0"/>
                </a:solidFill>
                <a:latin typeface="Calibri"/>
              </a:rPr>
              <a:t>S9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Audit log search: filter by event or user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02920"/>
            <a:ext cx="960120" cy="960120"/>
          </a:xfrm>
          <a:prstGeom prst="roundRect">
            <a:avLst>
              <a:gd name="adj" fmla="val 18000"/>
            </a:avLst>
          </a:prstGeom>
          <a:solidFill>
            <a:srgbClr val="5CB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84632"/>
            <a:ext cx="960120" cy="9601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4200" b="1" i="0">
                <a:solidFill>
                  <a:srgbClr val="10151D"/>
                </a:solidFill>
                <a:latin typeface="Trebuchet M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9928" y="502920"/>
            <a:ext cx="9601200" cy="10058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 i="0" spc="180">
                <a:solidFill>
                  <a:srgbClr val="5CB6EA"/>
                </a:solidFill>
                <a:latin typeface="Trebuchet MS"/>
              </a:rPr>
              <a:t>MEMBER 2</a:t>
            </a:r>
          </a:p>
          <a:p>
            <a:r>
              <a:rPr sz="2700" b="1" i="0">
                <a:solidFill>
                  <a:srgbClr val="EAF0F7"/>
                </a:solidFill>
                <a:latin typeface="Trebuchet MS"/>
              </a:rPr>
              <a:t>Authentication &amp;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9928" y="1444752"/>
            <a:ext cx="96012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50" b="0" i="1">
                <a:solidFill>
                  <a:srgbClr val="9DB0C8"/>
                </a:solidFill>
                <a:latin typeface="Calibri"/>
              </a:rPr>
              <a:t>Presenter:  [ Name · SIT ID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5532120" cy="2743200"/>
          </a:xfrm>
          <a:prstGeom prst="roundRect">
            <a:avLst>
              <a:gd name="adj" fmla="val 5000"/>
            </a:avLst>
          </a:prstGeom>
          <a:solidFill>
            <a:srgbClr val="1E2734"/>
          </a:solidFill>
          <a:ln w="12700">
            <a:solidFill>
              <a:srgbClr val="3A4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 i="0">
                <a:solidFill>
                  <a:srgbClr val="5CB6EA"/>
                </a:solidFill>
                <a:latin typeface="Trebuchet MS"/>
              </a:rPr>
              <a:t>Owns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5074920" cy="2011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User model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structured names · NRIC · Telegram linkage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AuthService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argon2id register / login / change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Auth handlers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register · login · step-up · 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2057400"/>
            <a:ext cx="5532120" cy="2743200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7780">
            <a:solidFill>
              <a:srgbClr val="5CB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40280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 i="0">
                <a:solidFill>
                  <a:srgbClr val="5CB6EA"/>
                </a:solidFill>
                <a:latin typeface="Trebuchet MS"/>
              </a:rPr>
              <a:t>★  Individual extended 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70048"/>
            <a:ext cx="5074920" cy="2011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Risk-based step-up login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new device/network must pass an OTP first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Login device tracking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browser + IP, first-seen alerts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Hardened unlink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24h delay, cancellable from the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074920"/>
            <a:ext cx="108813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5CB6EA"/>
                </a:solidFill>
                <a:latin typeface="Trebuchet MS"/>
              </a:rPr>
              <a:t>In this 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394960"/>
            <a:ext cx="1097280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0" i="0">
                <a:solidFill>
                  <a:srgbClr val="9DB0C8"/>
                </a:solidFill>
                <a:latin typeface="Calibri"/>
              </a:rPr>
              <a:t>›  Hardened sign-in</a:t>
            </a:r>
            <a:r>
              <a:rPr sz="1300" b="0" i="0">
                <a:solidFill>
                  <a:srgbClr val="5B6B86"/>
                </a:solidFill>
                <a:latin typeface="Calibri"/>
              </a:rPr>
              <a:t>     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›  Step-up login, device tracking &amp; linking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5CB6EA"/>
                </a:solidFill>
                <a:latin typeface="Trebuchet MS"/>
              </a:rPr>
              <a:t>MEMBER 2 · AUTH &amp;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Sign-up &amp; sign-in, hardened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5852160" cy="4114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argon2id hashing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memory-hard, unique per-user salts, OWASP-recommended.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No user enumeration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identical error for wrong email vs wrong password.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No auto-login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register, then /login?registered=1; explicit sign-in.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Role-based landing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admin to dashboard, teller to loans, customer to accounts.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Parameterised queries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SQLx binds every value; no string-built 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93408" y="1737360"/>
            <a:ext cx="5212080" cy="4069080"/>
          </a:xfrm>
          <a:prstGeom prst="roundRect">
            <a:avLst>
              <a:gd name="adj" fmla="val 5000"/>
            </a:avLst>
          </a:prstGeom>
          <a:solidFill>
            <a:srgbClr val="161C26"/>
          </a:solidFill>
          <a:ln w="15875">
            <a:solidFill>
              <a:srgbClr val="5CB6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30568" y="1737360"/>
            <a:ext cx="4937760" cy="4069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0" i="1">
                <a:solidFill>
                  <a:srgbClr val="9DB0C8"/>
                </a:solidFill>
                <a:latin typeface="Calibri"/>
              </a:rPr>
              <a:t>⊕  Insert screenshot: Login + step-up code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5CB6EA"/>
                </a:solidFill>
                <a:latin typeface="Trebuchet MS"/>
              </a:rPr>
              <a:t>MEMBER 2 · AUTH &amp;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Step-up login, device tracking &amp; linking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5852160" cy="4114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Risk-based step-up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first-seen browser/network must present an OTP before ANY session exists.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Origin blocking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3 wrong step-up codes block that device + network for 24h.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Device tracking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every login records browser family + IP + first-seen flags.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Owner alerts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new device/network triggers a Telegram security alert + notification.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Hardened /unlink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bot unlink delayed 24h, cancellable only from a password-backed session.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93408" y="1737360"/>
            <a:ext cx="5212080" cy="1965960"/>
          </a:xfrm>
          <a:prstGeom prst="roundRect">
            <a:avLst>
              <a:gd name="adj" fmla="val 5000"/>
            </a:avLst>
          </a:prstGeom>
          <a:solidFill>
            <a:srgbClr val="161C26"/>
          </a:solidFill>
          <a:ln w="15875">
            <a:solidFill>
              <a:srgbClr val="5CB6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30568" y="1737360"/>
            <a:ext cx="4937760" cy="19659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0" i="1">
                <a:solidFill>
                  <a:srgbClr val="9DB0C8"/>
                </a:solidFill>
                <a:latin typeface="Calibri"/>
              </a:rPr>
              <a:t>⊕  Insert FLOWS.md #13 (device tracking)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93408" y="3886200"/>
            <a:ext cx="5212080" cy="1965960"/>
          </a:xfrm>
          <a:prstGeom prst="roundRect">
            <a:avLst>
              <a:gd name="adj" fmla="val 5000"/>
            </a:avLst>
          </a:prstGeom>
          <a:solidFill>
            <a:srgbClr val="161C26"/>
          </a:solidFill>
          <a:ln w="15875">
            <a:solidFill>
              <a:srgbClr val="5CB6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0568" y="3886200"/>
            <a:ext cx="4937760" cy="19659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0" i="1">
                <a:solidFill>
                  <a:srgbClr val="9DB0C8"/>
                </a:solidFill>
                <a:latin typeface="Calibri"/>
              </a:rPr>
              <a:t>⊕  Insert screenshot: /staff/users activity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5CB6EA"/>
                </a:solidFill>
                <a:latin typeface="Trebuchet MS"/>
              </a:rPr>
              <a:t>MEMBER 2 ·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Demo: Auth &amp; identity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897880" cy="4480560"/>
          </a:xfrm>
          <a:prstGeom prst="roundRect">
            <a:avLst>
              <a:gd name="adj" fmla="val 5000"/>
            </a:avLst>
          </a:prstGeom>
          <a:solidFill>
            <a:srgbClr val="161C26"/>
          </a:solidFill>
          <a:ln w="15875">
            <a:solidFill>
              <a:srgbClr val="5CB6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691640"/>
            <a:ext cx="5623560" cy="44805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0" i="1">
                <a:solidFill>
                  <a:srgbClr val="9DB0C8"/>
                </a:solidFill>
                <a:latin typeface="Calibri"/>
              </a:rPr>
              <a:t>⊕  Insert screen recording: registration, step-up login &amp; Telegram linking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691640"/>
            <a:ext cx="4937760" cy="4480560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6510">
            <a:solidFill>
              <a:srgbClr val="5CB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856231"/>
            <a:ext cx="45720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 i="0">
                <a:solidFill>
                  <a:srgbClr val="5CB6EA"/>
                </a:solidFill>
                <a:latin typeface="Trebuchet MS"/>
              </a:rPr>
              <a:t>Demo script  (scenarios)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331720"/>
            <a:ext cx="4526280" cy="3703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5CB6EA"/>
                </a:solidFill>
                <a:latin typeface="Calibri"/>
              </a:rPr>
              <a:t>S13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Register with names + NRIC, then forced Telegram linking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5CB6EA"/>
                </a:solidFill>
                <a:latin typeface="Calibri"/>
              </a:rPr>
              <a:t>S11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Telegram OTP delivery, bot /unlink and /help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5CB6EA"/>
                </a:solidFill>
                <a:latin typeface="Calibri"/>
              </a:rPr>
              <a:t>S18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OTP on profile changes (email/password) + 3 strikes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5CB6EA"/>
                </a:solidFill>
                <a:latin typeface="Calibri"/>
              </a:rPr>
              <a:t>S19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New-device alert + /staff/users investigation view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5CB6EA"/>
                </a:solidFill>
                <a:latin typeface="Calibri"/>
              </a:rPr>
              <a:t>S20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Step-up login, hardened /unlink &amp; origin blocking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02920"/>
            <a:ext cx="960120" cy="960120"/>
          </a:xfrm>
          <a:prstGeom prst="roundRect">
            <a:avLst>
              <a:gd name="adj" fmla="val 18000"/>
            </a:avLst>
          </a:prstGeom>
          <a:solidFill>
            <a:srgbClr val="5CB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84632"/>
            <a:ext cx="960120" cy="9601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4200" b="1" i="0">
                <a:solidFill>
                  <a:srgbClr val="10151D"/>
                </a:solidFill>
                <a:latin typeface="Trebuchet M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9928" y="502920"/>
            <a:ext cx="9601200" cy="10058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 i="0" spc="180">
                <a:solidFill>
                  <a:srgbClr val="5CBD92"/>
                </a:solidFill>
                <a:latin typeface="Trebuchet MS"/>
              </a:rPr>
              <a:t>MEMBER 3</a:t>
            </a:r>
          </a:p>
          <a:p>
            <a:r>
              <a:rPr sz="2700" b="1" i="0">
                <a:solidFill>
                  <a:srgbClr val="EAF0F7"/>
                </a:solidFill>
                <a:latin typeface="Trebuchet MS"/>
              </a:rPr>
              <a:t>Accounts, limits &amp; dual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9928" y="1444752"/>
            <a:ext cx="96012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50" b="0" i="1">
                <a:solidFill>
                  <a:srgbClr val="9DB0C8"/>
                </a:solidFill>
                <a:latin typeface="Calibri"/>
              </a:rPr>
              <a:t>Presenter:  [ Name · SIT ID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5532120" cy="2743200"/>
          </a:xfrm>
          <a:prstGeom prst="roundRect">
            <a:avLst>
              <a:gd name="adj" fmla="val 5000"/>
            </a:avLst>
          </a:prstGeom>
          <a:solidFill>
            <a:srgbClr val="1E2734"/>
          </a:solidFill>
          <a:ln w="12700">
            <a:solidFill>
              <a:srgbClr val="3A4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 i="0">
                <a:solidFill>
                  <a:srgbClr val="5CBD92"/>
                </a:solidFill>
                <a:latin typeface="Trebuchet MS"/>
              </a:rPr>
              <a:t>Owns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5074920" cy="2011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Account model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type · status · balance · per-transfer limit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AccountService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open · approve · freeze · close · adjust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Accounts handlers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customer + staff account screens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2057400"/>
            <a:ext cx="5532120" cy="2743200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7780">
            <a:solidFill>
              <a:srgbClr val="5CBD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40280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 i="0">
                <a:solidFill>
                  <a:srgbClr val="5CBD92"/>
                </a:solidFill>
                <a:latin typeface="Trebuchet MS"/>
              </a:rPr>
              <a:t>★  Individual extended 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70048"/>
            <a:ext cx="5074920" cy="2011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Dual-control adjustments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staff edits over $1,000 need the other role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Delayed limit ledger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increases cool off 12h before applying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Lazy maturation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matured changes promoted on read /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074920"/>
            <a:ext cx="108813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5CBD92"/>
                </a:solidFill>
                <a:latin typeface="Trebuchet MS"/>
              </a:rPr>
              <a:t>In this 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394960"/>
            <a:ext cx="1097280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0" i="0">
                <a:solidFill>
                  <a:srgbClr val="9DB0C8"/>
                </a:solidFill>
                <a:latin typeface="Calibri"/>
              </a:rPr>
              <a:t>›  Maker-checker opening</a:t>
            </a:r>
            <a:r>
              <a:rPr sz="1300" b="0" i="0">
                <a:solidFill>
                  <a:srgbClr val="5B6B86"/>
                </a:solidFill>
                <a:latin typeface="Calibri"/>
              </a:rPr>
              <a:t>     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›  Limit holds &amp; dual-control adjustments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5CBD92"/>
                </a:solidFill>
                <a:latin typeface="Trebuchet MS"/>
              </a:rPr>
              <a:t>MEMBER 3 · ACCOUNTS &amp;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Account opening: maker-checker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5852160" cy="4114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Self-open to pending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a customer application creates a pending account.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Maker-checker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a teller or admin approves it to active.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Admin-open to active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staff opening on a customer's behalf is immediate.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DB trigger guard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only customers may own accounts, enforced in schema.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OTP-gated + live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opening needs a code; the pending page self-refreshes on approval.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93408" y="1737360"/>
            <a:ext cx="5212080" cy="4069080"/>
          </a:xfrm>
          <a:prstGeom prst="roundRect">
            <a:avLst>
              <a:gd name="adj" fmla="val 5000"/>
            </a:avLst>
          </a:prstGeom>
          <a:solidFill>
            <a:srgbClr val="161C26"/>
          </a:solidFill>
          <a:ln w="15875">
            <a:solidFill>
              <a:srgbClr val="5CBD9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30568" y="1737360"/>
            <a:ext cx="4937760" cy="4069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0" i="1">
                <a:solidFill>
                  <a:srgbClr val="9DB0C8"/>
                </a:solidFill>
                <a:latin typeface="Calibri"/>
              </a:rPr>
              <a:t>⊕  Insert FLOWS.md #2  /  screenshot: pending to approved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5CBD92"/>
                </a:solidFill>
                <a:latin typeface="Trebuchet MS"/>
              </a:rPr>
              <a:t>MEMBER 3 · ACCOUNTS &amp;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Limit holds &amp; dual-control adjustments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5852160" cy="21031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Decrease applies now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lowering a limit reduces risk; immediate.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Increase is held 12h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consent popup; the OLD limit applies until maturity.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Lazy promotion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matured rows promoted on every read and before each transfer.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77639"/>
            <a:ext cx="5852160" cy="1920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Adjustments up to $1,000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apply immediately under a row lock, audited.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Adjustments over $1,000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parked for the OTHER staff role to approve.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Same person/role refused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a negative result is refused under lock.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93408" y="1737360"/>
            <a:ext cx="5212080" cy="4160520"/>
          </a:xfrm>
          <a:prstGeom prst="roundRect">
            <a:avLst>
              <a:gd name="adj" fmla="val 5000"/>
            </a:avLst>
          </a:prstGeom>
          <a:solidFill>
            <a:srgbClr val="161C26"/>
          </a:solidFill>
          <a:ln w="15875">
            <a:solidFill>
              <a:srgbClr val="5CBD9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30568" y="1737360"/>
            <a:ext cx="4937760" cy="4160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0" i="1">
                <a:solidFill>
                  <a:srgbClr val="9DB0C8"/>
                </a:solidFill>
                <a:latin typeface="Calibri"/>
              </a:rPr>
              <a:t>⊕  Insert FLOWS.md #6 + #8 (limit hold · dual control)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5CBD92"/>
                </a:solidFill>
                <a:latin typeface="Trebuchet MS"/>
              </a:rPr>
              <a:t>MEMBER 3 ·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Demo: Accounts &amp; limits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897880" cy="4480560"/>
          </a:xfrm>
          <a:prstGeom prst="roundRect">
            <a:avLst>
              <a:gd name="adj" fmla="val 5000"/>
            </a:avLst>
          </a:prstGeom>
          <a:solidFill>
            <a:srgbClr val="161C26"/>
          </a:solidFill>
          <a:ln w="15875">
            <a:solidFill>
              <a:srgbClr val="5CBD9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691640"/>
            <a:ext cx="5623560" cy="44805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0" i="1">
                <a:solidFill>
                  <a:srgbClr val="9DB0C8"/>
                </a:solidFill>
                <a:latin typeface="Calibri"/>
              </a:rPr>
              <a:t>⊕  Insert screen recording: account opening, limit hold &amp; adjustments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691640"/>
            <a:ext cx="4937760" cy="4480560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6510">
            <a:solidFill>
              <a:srgbClr val="5CBD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856231"/>
            <a:ext cx="45720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 i="0">
                <a:solidFill>
                  <a:srgbClr val="5CBD92"/>
                </a:solidFill>
                <a:latin typeface="Trebuchet MS"/>
              </a:rPr>
              <a:t>Demo script  (scenarios)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331720"/>
            <a:ext cx="4526280" cy="3703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25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5CBD92"/>
                </a:solidFill>
                <a:latin typeface="Calibri"/>
              </a:rPr>
              <a:t>S10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Open account with OTP; pending page refreshes on approval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25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5CBD92"/>
                </a:solidFill>
                <a:latin typeface="Calibri"/>
              </a:rPr>
              <a:t>S14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Alice's 10-second limit hold maturing live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25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5CBD92"/>
                </a:solidFill>
                <a:latin typeface="Calibri"/>
              </a:rPr>
              <a:t>S7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Admin account CRUD: open, adjust, freeze/unfreeze, close, all audited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25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5CBD92"/>
                </a:solidFill>
                <a:latin typeface="Calibri"/>
              </a:rPr>
              <a:t>Flow 8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Extended: parked over-$1,000 adjustment approved by the other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02920"/>
            <a:ext cx="960120" cy="960120"/>
          </a:xfrm>
          <a:prstGeom prst="roundRect">
            <a:avLst>
              <a:gd name="adj" fmla="val 18000"/>
            </a:avLst>
          </a:prstGeom>
          <a:solidFill>
            <a:srgbClr val="E3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84632"/>
            <a:ext cx="960120" cy="9601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4200" b="1" i="0">
                <a:solidFill>
                  <a:srgbClr val="10151D"/>
                </a:solidFill>
                <a:latin typeface="Trebuchet M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9928" y="502920"/>
            <a:ext cx="9601200" cy="10058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 i="0" spc="180">
                <a:solidFill>
                  <a:srgbClr val="E3A948"/>
                </a:solidFill>
                <a:latin typeface="Trebuchet MS"/>
              </a:rPr>
              <a:t>MEMBER 4</a:t>
            </a:r>
          </a:p>
          <a:p>
            <a:r>
              <a:rPr sz="2700" b="1" i="0">
                <a:solidFill>
                  <a:srgbClr val="EAF0F7"/>
                </a:solidFill>
                <a:latin typeface="Trebuchet MS"/>
              </a:rPr>
              <a:t>The concurrency-safe transfer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9928" y="1444752"/>
            <a:ext cx="96012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50" b="0" i="1">
                <a:solidFill>
                  <a:srgbClr val="9DB0C8"/>
                </a:solidFill>
                <a:latin typeface="Calibri"/>
              </a:rPr>
              <a:t>Presenter:  [ Name · SIT ID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5532120" cy="2743200"/>
          </a:xfrm>
          <a:prstGeom prst="roundRect">
            <a:avLst>
              <a:gd name="adj" fmla="val 5000"/>
            </a:avLst>
          </a:prstGeom>
          <a:solidFill>
            <a:srgbClr val="1E2734"/>
          </a:solidFill>
          <a:ln w="12700">
            <a:solidFill>
              <a:srgbClr val="3A4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 i="0">
                <a:solidFill>
                  <a:srgbClr val="E3A948"/>
                </a:solidFill>
                <a:latin typeface="Trebuchet MS"/>
              </a:rPr>
              <a:t>Owns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5074920" cy="2011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Transfer model + service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two-phase create then confirm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Transfers handlers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new · confirm · history · review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AuditService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append-only event 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2057400"/>
            <a:ext cx="5532120" cy="2743200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7780">
            <a:solidFill>
              <a:srgbClr val="E3A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40280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 i="0">
                <a:solidFill>
                  <a:srgbClr val="E3A948"/>
                </a:solidFill>
                <a:latin typeface="Trebuchet MS"/>
              </a:rPr>
              <a:t>★  Individual extended 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70048"/>
            <a:ext cx="5074920" cy="2011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Out-of-band OTP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OtpChannel trait: Telegram / on-screen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Generalised OTP guard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ActionOtpService for every sensitive action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Fund reservation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pending/on_hold funds can't be double-spent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074920"/>
            <a:ext cx="108813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E3A948"/>
                </a:solidFill>
                <a:latin typeface="Trebuchet MS"/>
              </a:rPr>
              <a:t>In this 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394960"/>
            <a:ext cx="1097280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0" i="0">
                <a:solidFill>
                  <a:srgbClr val="9DB0C8"/>
                </a:solidFill>
                <a:latin typeface="Calibri"/>
              </a:rPr>
              <a:t>›  Two-phase engine</a:t>
            </a:r>
            <a:r>
              <a:rPr sz="1300" b="0" i="0">
                <a:solidFill>
                  <a:srgbClr val="5B6B86"/>
                </a:solidFill>
                <a:latin typeface="Calibri"/>
              </a:rPr>
              <a:t>     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›  Concurrency</a:t>
            </a:r>
            <a:r>
              <a:rPr sz="1300" b="0" i="0">
                <a:solidFill>
                  <a:srgbClr val="5B6B86"/>
                </a:solidFill>
                <a:latin typeface="Calibri"/>
              </a:rPr>
              <a:t>     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›  Fraud holds</a:t>
            </a:r>
            <a:r>
              <a:rPr sz="1300" b="0" i="0">
                <a:solidFill>
                  <a:srgbClr val="5B6B86"/>
                </a:solidFill>
                <a:latin typeface="Calibri"/>
              </a:rPr>
              <a:t>     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›  Out-of-band OTP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E3A948"/>
                </a:solidFill>
                <a:latin typeface="Trebuchet MS"/>
              </a:rPr>
              <a:t>MEMBER 4 · TRANSFER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Two-phase transfer + fund reservation</a:t>
            </a:r>
          </a:p>
        </p:txBody>
      </p:sp>
      <p:pic>
        <p:nvPicPr>
          <p:cNvPr id="4" name="Picture 3" descr="transfer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81136"/>
            <a:ext cx="3931920" cy="47015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01768" y="1691640"/>
            <a:ext cx="6858000" cy="4572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Phase 1, create()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validate, pre-check funds, available-balance, limit, Mutex rate-limit, issue OTP. No money moves.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Phase 2, confirm()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verify OTP, lock both accounts, re-check, then debit + credit + finalise in one transaction.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NEW: funds reserved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create() and the locked confirm() both check balance MINUS funds already committed to pending / on_hold transfers.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Why it matters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the same money can't be promised twice; a flagged transfer always has its funds when staff release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E3A948"/>
                </a:solidFill>
                <a:latin typeface="Trebuchet MS"/>
              </a:rPr>
              <a:t>MEMBER 4 · TRANSFER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Why simultaneous transfers can't corrupt balances</a:t>
            </a:r>
          </a:p>
        </p:txBody>
      </p:sp>
      <p:pic>
        <p:nvPicPr>
          <p:cNvPr id="4" name="Picture 3" descr="concurr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40446"/>
            <a:ext cx="6400800" cy="33027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83480"/>
            <a:ext cx="6583680" cy="1371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EAF0F7"/>
                </a:solidFill>
                <a:latin typeface="Calibri"/>
              </a:rPr>
              <a:t>FOR UPDATE row locks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  serialize the balance check inside a transaction.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EAF0F7"/>
                </a:solidFill>
                <a:latin typeface="Calibri"/>
              </a:rPr>
              <a:t>Ascending-id lock order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  makes deadlock impossible on opposite-direction pairs.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EAF0F7"/>
                </a:solidFill>
                <a:latin typeface="Calibri"/>
              </a:rPr>
              <a:t>Explicit rollback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  a partial debit can never be committed.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24927" y="1691640"/>
            <a:ext cx="4434840" cy="2148840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7780">
            <a:solidFill>
              <a:srgbClr val="5CBD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4927" y="1874519"/>
            <a:ext cx="443484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5200" b="1" i="0">
                <a:solidFill>
                  <a:srgbClr val="5CBD92"/>
                </a:solidFill>
                <a:latin typeface="Trebuchet MS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788920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0" i="0">
                <a:solidFill>
                  <a:srgbClr val="9DB0C8"/>
                </a:solidFill>
                <a:latin typeface="Calibri"/>
              </a:rPr>
              <a:t>overdrafts · lost dollars · double-spends, proven by integration tests and the in-app race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7" y="4069080"/>
            <a:ext cx="4434840" cy="21945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EAF0F7"/>
                </a:solidFill>
                <a:latin typeface="Calibri"/>
              </a:rPr>
              <a:t>Two concurrency layers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  Mutex rate-limiter (app) over DB row locks (correctness).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EAF0F7"/>
                </a:solidFill>
                <a:latin typeface="Calibri"/>
              </a:rPr>
              <a:t>Money as NUMERIC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  decimal type, never floating 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E3A948"/>
                </a:solidFill>
                <a:latin typeface="Trebuchet MS"/>
              </a:rPr>
              <a:t>MEMBER 4 · TRANSFER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Fraud holds, identity review &amp; hijack defense</a:t>
            </a:r>
          </a:p>
        </p:txBody>
      </p:sp>
      <p:pic>
        <p:nvPicPr>
          <p:cNvPr id="4" name="Picture 3" descr="fraud_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06519"/>
            <a:ext cx="5486400" cy="35593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1928" y="1737360"/>
            <a:ext cx="5577840" cy="4572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Four fraud rules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over $10k, structuring, over 50% drain of a $5k+ balance, 4+/hour.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Held, not moved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a match parks the transfer on hold with the money untouched.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Identity review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customer states purpose + NRIC; staff compare to NRIC on file.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Release or deny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released money moves under the same locks; denied is explained.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Auto-freeze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3 overdraft attempts in 24h freeze the account, a hijack signature.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E3A948"/>
                </a:solidFill>
                <a:latin typeface="Trebuchet MS"/>
              </a:rPr>
              <a:t>MEMBER 4 · EXTENDED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Out-of-band OTP &amp; the OtpChannel trait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5852160" cy="4206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OtpChannel trait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TelegramOtp delivers out-of-band; ScreenOtp is the fallback.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Runtime polymorphism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the engine never knows which channel it holds; SMS is a drop-in.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One OTP discipline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ActionOtpService guards transfers, opening, loans, limits, profile, unlink, risky logins.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Hashed &amp; bounded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argon2-hashed at rest, single-use, 10-min expiry, uniform 3-strike budget.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Invisible to attackers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codes never appear on screen for linked users.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93408" y="1737360"/>
            <a:ext cx="5212080" cy="4160520"/>
          </a:xfrm>
          <a:prstGeom prst="roundRect">
            <a:avLst>
              <a:gd name="adj" fmla="val 5000"/>
            </a:avLst>
          </a:prstGeom>
          <a:solidFill>
            <a:srgbClr val="161C26"/>
          </a:solidFill>
          <a:ln w="15875">
            <a:solidFill>
              <a:srgbClr val="E3A9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30568" y="1737360"/>
            <a:ext cx="4937760" cy="4160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0" i="1">
                <a:solidFill>
                  <a:srgbClr val="9DB0C8"/>
                </a:solidFill>
                <a:latin typeface="Calibri"/>
              </a:rPr>
              <a:t>⊕  Insert screenshot: Telegram OTP + named transfer messages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E3A948"/>
                </a:solidFill>
                <a:latin typeface="Trebuchet MS"/>
              </a:rPr>
              <a:t>MEMBER 4 ·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Demo: The transfer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897880" cy="4480560"/>
          </a:xfrm>
          <a:prstGeom prst="roundRect">
            <a:avLst>
              <a:gd name="adj" fmla="val 5000"/>
            </a:avLst>
          </a:prstGeom>
          <a:solidFill>
            <a:srgbClr val="161C26"/>
          </a:solidFill>
          <a:ln w="15875">
            <a:solidFill>
              <a:srgbClr val="E3A9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691640"/>
            <a:ext cx="5623560" cy="44805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0" i="1">
                <a:solidFill>
                  <a:srgbClr val="9DB0C8"/>
                </a:solidFill>
                <a:latin typeface="Calibri"/>
              </a:rPr>
              <a:t>⊕  Insert screen recording: transfers, race demo, cargo test &amp; fraud holds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691640"/>
            <a:ext cx="4937760" cy="4480560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6510">
            <a:solidFill>
              <a:srgbClr val="E3A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856231"/>
            <a:ext cx="45720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 i="0">
                <a:solidFill>
                  <a:srgbClr val="E3A948"/>
                </a:solidFill>
                <a:latin typeface="Trebuchet MS"/>
              </a:rPr>
              <a:t>Demo script  (scenarios)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331720"/>
            <a:ext cx="4526280" cy="3703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E3A948"/>
                </a:solidFill>
                <a:latin typeface="Calibri"/>
              </a:rPr>
              <a:t>S2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Transfer with Telegram OTP + named messages both ways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E3A948"/>
                </a:solidFill>
                <a:latin typeface="Calibri"/>
              </a:rPr>
              <a:t>S4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Rejection reasons (insufficient funds, frozen, etc.)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E3A948"/>
                </a:solidFill>
                <a:latin typeface="Calibri"/>
              </a:rPr>
              <a:t>S5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Rate limit triggers on the 6th attempt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E3A948"/>
                </a:solidFill>
                <a:latin typeface="Calibri"/>
              </a:rPr>
              <a:t>S3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Race demo page + cargo test, money conserved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E3A948"/>
                </a:solidFill>
                <a:latin typeface="Calibri"/>
              </a:rPr>
              <a:t>S15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Fraud hold: purpose + NRIC, then release / deny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 i="0">
                <a:solidFill>
                  <a:srgbClr val="E3A94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E3A948"/>
                </a:solidFill>
                <a:latin typeface="Calibri"/>
              </a:rPr>
              <a:t>S16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Hijack freeze after 3 overdraft attempts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02920"/>
            <a:ext cx="960120" cy="960120"/>
          </a:xfrm>
          <a:prstGeom prst="roundRect">
            <a:avLst>
              <a:gd name="adj" fmla="val 18000"/>
            </a:avLst>
          </a:prstGeom>
          <a:solidFill>
            <a:srgbClr val="B29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84632"/>
            <a:ext cx="960120" cy="9601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4200" b="1" i="0">
                <a:solidFill>
                  <a:srgbClr val="10151D"/>
                </a:solidFill>
                <a:latin typeface="Trebuchet MS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9928" y="502920"/>
            <a:ext cx="9601200" cy="10058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 i="0" spc="180">
                <a:solidFill>
                  <a:srgbClr val="B29AE6"/>
                </a:solidFill>
                <a:latin typeface="Trebuchet MS"/>
              </a:rPr>
              <a:t>MEMBER 5</a:t>
            </a:r>
          </a:p>
          <a:p>
            <a:r>
              <a:rPr sz="2700" b="1" i="0">
                <a:solidFill>
                  <a:srgbClr val="EAF0F7"/>
                </a:solidFill>
                <a:latin typeface="Trebuchet MS"/>
              </a:rPr>
              <a:t>Loans &amp; system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9928" y="1444752"/>
            <a:ext cx="96012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50" b="0" i="1">
                <a:solidFill>
                  <a:srgbClr val="9DB0C8"/>
                </a:solidFill>
                <a:latin typeface="Calibri"/>
              </a:rPr>
              <a:t>Presenter:  [ Name · SIT ID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5532120" cy="2743200"/>
          </a:xfrm>
          <a:prstGeom prst="roundRect">
            <a:avLst>
              <a:gd name="adj" fmla="val 5000"/>
            </a:avLst>
          </a:prstGeom>
          <a:solidFill>
            <a:srgbClr val="1E2734"/>
          </a:solidFill>
          <a:ln w="12700">
            <a:solidFill>
              <a:srgbClr val="3A4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 i="0">
                <a:solidFill>
                  <a:srgbClr val="B29AE6"/>
                </a:solidFill>
                <a:latin typeface="Trebuchet MS"/>
              </a:rPr>
              <a:t>Owns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5074920" cy="2011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B29AE6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Loan model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principal · rate · term · status · due date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B29AE6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LoanService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apply · approve · repay · outstanding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B29AE6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Loans handlers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apply · list · detail · repay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2057400"/>
            <a:ext cx="5532120" cy="2743200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7780">
            <a:solidFill>
              <a:srgbClr val="B29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40280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 i="0">
                <a:solidFill>
                  <a:srgbClr val="B29AE6"/>
                </a:solidFill>
                <a:latin typeface="Trebuchet MS"/>
              </a:rPr>
              <a:t>★  Individual extended 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70048"/>
            <a:ext cx="5074920" cy="2011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B29AE6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Graceful-shutdown snapshot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forensic system totals on Ctrl-C / SIGTERM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B29AE6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Repayment ledger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debits funding accounts under lock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B29AE6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EAF0F7"/>
                </a:solidFill>
                <a:latin typeface="Calibri"/>
              </a:rPr>
              <a:t>Lifecycle scheduling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monthly due dates, 7-day pending expiry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074920"/>
            <a:ext cx="108813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B29AE6"/>
                </a:solidFill>
                <a:latin typeface="Trebuchet MS"/>
              </a:rPr>
              <a:t>In this 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394960"/>
            <a:ext cx="1097280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0" i="0">
                <a:solidFill>
                  <a:srgbClr val="9DB0C8"/>
                </a:solidFill>
                <a:latin typeface="Calibri"/>
              </a:rPr>
              <a:t>›  Four-eyes loan approval</a:t>
            </a:r>
            <a:r>
              <a:rPr sz="1300" b="0" i="0">
                <a:solidFill>
                  <a:srgbClr val="5B6B86"/>
                </a:solidFill>
                <a:latin typeface="Calibri"/>
              </a:rPr>
              <a:t>     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›  Repayments &amp; graceful shutdown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B29AE6"/>
                </a:solidFill>
                <a:latin typeface="Trebuchet MS"/>
              </a:rPr>
              <a:t>MEMBER 5 · LOANS &amp;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Loan lifecycle: four-eyes approval</a:t>
            </a:r>
          </a:p>
        </p:txBody>
      </p:sp>
      <p:pic>
        <p:nvPicPr>
          <p:cNvPr id="4" name="Picture 3" descr="loan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67674"/>
            <a:ext cx="3840480" cy="47284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10328" y="1737360"/>
            <a:ext cx="6949440" cy="43891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B29AE6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Apply with OTP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principal, rate, term and a payout account; confirmed by code.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B29AE6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Pending expires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unapproved applications lapse after 7 days.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B29AE6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Four-eyes approval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one teller AND one admin; UNIQUE(loan_id, role) forces distinct roles.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B29AE6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Disbursement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principal credited to the payout account in the same transaction.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B29AE6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Scheduling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next payment due = now + 1 month, set on disbursement.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B29AE6"/>
                </a:solidFill>
                <a:latin typeface="Trebuchet MS"/>
              </a:rPr>
              <a:t>MEMBER 5 · LOANS &amp;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Repayments &amp; graceful shutdown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5852160" cy="4114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B29AE6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Repayment under lock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debits a chosen funding account in the same transaction.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B29AE6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Refuses bad states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inactive or underfunded accounts are rejected.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B29AE6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Progress tracking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paid_off when outstanding hits zero; else due advances a month.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B29AE6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Shutdown snapshot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Ctrl-C writes counts + totals as a system.snapshot audit event.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400" b="1" i="0">
                <a:solidFill>
                  <a:srgbClr val="B29AE6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Durability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committed transactions survive via Postgres WAL; snapshot is a marker.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93408" y="1737360"/>
            <a:ext cx="5212080" cy="4069080"/>
          </a:xfrm>
          <a:prstGeom prst="roundRect">
            <a:avLst>
              <a:gd name="adj" fmla="val 5000"/>
            </a:avLst>
          </a:prstGeom>
          <a:solidFill>
            <a:srgbClr val="161C26"/>
          </a:solidFill>
          <a:ln w="15875">
            <a:solidFill>
              <a:srgbClr val="B29A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30568" y="1737360"/>
            <a:ext cx="4937760" cy="4069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0" i="1">
                <a:solidFill>
                  <a:srgbClr val="9DB0C8"/>
                </a:solidFill>
                <a:latin typeface="Calibri"/>
              </a:rPr>
              <a:t>⊕  Insert screenshot: psql system.snapshot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B29AE6"/>
                </a:solidFill>
                <a:latin typeface="Trebuchet MS"/>
              </a:rPr>
              <a:t>MEMBER 5 ·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Demo: Loans &amp;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897880" cy="4480560"/>
          </a:xfrm>
          <a:prstGeom prst="roundRect">
            <a:avLst>
              <a:gd name="adj" fmla="val 5000"/>
            </a:avLst>
          </a:prstGeom>
          <a:solidFill>
            <a:srgbClr val="161C26"/>
          </a:solidFill>
          <a:ln w="15875">
            <a:solidFill>
              <a:srgbClr val="B29A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691640"/>
            <a:ext cx="5623560" cy="44805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0" i="1">
                <a:solidFill>
                  <a:srgbClr val="9DB0C8"/>
                </a:solidFill>
                <a:latin typeface="Calibri"/>
              </a:rPr>
              <a:t>⊕  Insert screen recording: loan application, dual approval, repayment &amp; shutdown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691640"/>
            <a:ext cx="4937760" cy="4480560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6510">
            <a:solidFill>
              <a:srgbClr val="B29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856231"/>
            <a:ext cx="45720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 i="0">
                <a:solidFill>
                  <a:srgbClr val="B29AE6"/>
                </a:solidFill>
                <a:latin typeface="Trebuchet MS"/>
              </a:rPr>
              <a:t>Demo script  (scenarios)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331720"/>
            <a:ext cx="4526280" cy="3703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250" b="1" i="0">
                <a:solidFill>
                  <a:srgbClr val="B29AE6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B29AE6"/>
                </a:solidFill>
                <a:latin typeface="Calibri"/>
              </a:rPr>
              <a:t>S8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Apply (OTP) + payout, teller+admin dual approval, repayment debits an account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250" b="1" i="0">
                <a:solidFill>
                  <a:srgbClr val="B29AE6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B29AE6"/>
                </a:solidFill>
                <a:latin typeface="Calibri"/>
              </a:rPr>
              <a:t>S12  </a:t>
            </a:r>
            <a:r>
              <a:rPr sz="1200" b="0" i="0">
                <a:solidFill>
                  <a:srgbClr val="9DB0C8"/>
                </a:solidFill>
                <a:latin typeface="Calibri"/>
              </a:rPr>
              <a:t>Ctrl-C: system.snapshot in psql closes the recording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5CB6EA"/>
                </a:solidFill>
                <a:latin typeface="Trebuchet MS"/>
              </a:rPr>
              <a:t>GROUP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Database design: one migration per module</a:t>
            </a:r>
          </a:p>
        </p:txBody>
      </p:sp>
      <p:pic>
        <p:nvPicPr>
          <p:cNvPr id="4" name="Picture 3" descr="schema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" y="1600200"/>
            <a:ext cx="551200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67728" y="1737360"/>
            <a:ext cx="4937760" cy="33832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0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EAF0F7"/>
                </a:solidFill>
                <a:latin typeface="Calibri"/>
              </a:rPr>
              <a:t>13 tables, normalised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one migration per module, applied on startup.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0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EAF0F7"/>
                </a:solidFill>
                <a:latin typeface="Calibri"/>
              </a:rPr>
              <a:t>Integrity in the schema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CHECK balance &gt;= 0; UNIQUE(loan, role); triggers block staff-owned accounts &amp; same-owner transfers.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0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EAF0F7"/>
                </a:solidFill>
                <a:latin typeface="Calibri"/>
              </a:rPr>
              <a:t>Money is NUMERIC(18,2)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a decimal type, never f64.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00" b="1" i="0">
                <a:solidFill>
                  <a:srgbClr val="5CB6EA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EAF0F7"/>
                </a:solidFill>
                <a:latin typeface="Calibri"/>
              </a:rPr>
              <a:t>Safe &amp; buildable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SQLx parameterises every query; runtime queries need no live DB to compile.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67728" y="5257800"/>
            <a:ext cx="493776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50" b="0" i="0">
                <a:solidFill>
                  <a:srgbClr val="9DB0C8"/>
                </a:solidFill>
                <a:latin typeface="Calibri"/>
              </a:rPr>
              <a:t>Node colour = owning module:  </a:t>
            </a:r>
            <a:r>
              <a:rPr sz="1150" b="0" i="0">
                <a:solidFill>
                  <a:srgbClr val="5CB6EA"/>
                </a:solidFill>
                <a:latin typeface="Calibri"/>
              </a:rPr>
              <a:t>● </a:t>
            </a:r>
            <a:r>
              <a:rPr sz="1150" b="0" i="0">
                <a:solidFill>
                  <a:srgbClr val="9DB0C8"/>
                </a:solidFill>
                <a:latin typeface="Calibri"/>
              </a:rPr>
              <a:t>Auth   </a:t>
            </a:r>
            <a:r>
              <a:rPr sz="1150" b="0" i="0">
                <a:solidFill>
                  <a:srgbClr val="5CBD92"/>
                </a:solidFill>
                <a:latin typeface="Calibri"/>
              </a:rPr>
              <a:t>● </a:t>
            </a:r>
            <a:r>
              <a:rPr sz="1150" b="0" i="0">
                <a:solidFill>
                  <a:srgbClr val="9DB0C8"/>
                </a:solidFill>
                <a:latin typeface="Calibri"/>
              </a:rPr>
              <a:t>Accounts   </a:t>
            </a:r>
            <a:r>
              <a:rPr sz="1150" b="0" i="0">
                <a:solidFill>
                  <a:srgbClr val="E3A948"/>
                </a:solidFill>
                <a:latin typeface="Calibri"/>
              </a:rPr>
              <a:t>● </a:t>
            </a:r>
            <a:r>
              <a:rPr sz="1150" b="0" i="0">
                <a:solidFill>
                  <a:srgbClr val="9DB0C8"/>
                </a:solidFill>
                <a:latin typeface="Calibri"/>
              </a:rPr>
              <a:t>Transfers   </a:t>
            </a:r>
            <a:r>
              <a:rPr sz="1150" b="0" i="0">
                <a:solidFill>
                  <a:srgbClr val="B29AE6"/>
                </a:solidFill>
                <a:latin typeface="Calibri"/>
              </a:rPr>
              <a:t>● </a:t>
            </a:r>
            <a:r>
              <a:rPr sz="1150" b="0" i="0">
                <a:solidFill>
                  <a:srgbClr val="9DB0C8"/>
                </a:solidFill>
                <a:latin typeface="Calibri"/>
              </a:rPr>
              <a:t>Loans   </a:t>
            </a:r>
            <a:r>
              <a:rPr sz="1150" b="0" i="0">
                <a:solidFill>
                  <a:srgbClr val="5B6B86"/>
                </a:solidFill>
                <a:latin typeface="Calibri"/>
              </a:rPr>
              <a:t>● </a:t>
            </a:r>
            <a:r>
              <a:rPr sz="1150" b="0" i="0">
                <a:solidFill>
                  <a:srgbClr val="9DB0C8"/>
                </a:solidFill>
                <a:latin typeface="Calibri"/>
              </a:rPr>
              <a:t>Shared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5CB6EA"/>
                </a:solidFill>
                <a:latin typeface="Trebuchet MS"/>
              </a:rPr>
              <a:t>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Testing &amp; the invariants we prove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3456432" cy="2011680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6510">
            <a:solidFill>
              <a:srgbClr val="5CB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310896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3400" b="1" i="0">
                <a:solidFill>
                  <a:srgbClr val="5CB6EA"/>
                </a:solidFill>
                <a:latin typeface="Trebuchet MS"/>
              </a:rPr>
              <a:t>5 / $30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697480"/>
            <a:ext cx="301752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0" i="0">
                <a:solidFill>
                  <a:srgbClr val="9DB0C8"/>
                </a:solidFill>
                <a:latin typeface="Calibri"/>
              </a:rPr>
              <a:t>Five concurrent $10 transfers: exactly 3 succeed, 2 rejected, $0 lost.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42816" y="1691640"/>
            <a:ext cx="3456432" cy="2011680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6510">
            <a:solidFill>
              <a:srgbClr val="5CBD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25696" y="1828800"/>
            <a:ext cx="310896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3400" b="1" i="0">
                <a:solidFill>
                  <a:srgbClr val="5CBD92"/>
                </a:solidFill>
                <a:latin typeface="Trebuchet MS"/>
              </a:rPr>
              <a:t>x1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1416" y="2697480"/>
            <a:ext cx="301752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0" i="0">
                <a:solidFill>
                  <a:srgbClr val="9DB0C8"/>
                </a:solidFill>
                <a:latin typeface="Calibri"/>
              </a:rPr>
              <a:t>One transfer confirmed twice pays out exactly once.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18703" y="1691640"/>
            <a:ext cx="3456432" cy="2011680"/>
          </a:xfrm>
          <a:prstGeom prst="roundRect">
            <a:avLst>
              <a:gd name="adj" fmla="val 5000"/>
            </a:avLst>
          </a:prstGeom>
          <a:solidFill>
            <a:srgbClr val="263243"/>
          </a:solidFill>
          <a:ln w="16510">
            <a:solidFill>
              <a:srgbClr val="B29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1583" y="1828800"/>
            <a:ext cx="310896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3400" b="1" i="0">
                <a:solidFill>
                  <a:srgbClr val="B29AE6"/>
                </a:solidFill>
                <a:latin typeface="Trebuchet MS"/>
              </a:rPr>
              <a:t>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3" y="2697480"/>
            <a:ext cx="301752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0" i="0">
                <a:solidFill>
                  <a:srgbClr val="9DB0C8"/>
                </a:solidFill>
                <a:latin typeface="Calibri"/>
              </a:rPr>
              <a:t>Graceful-shutdown system snapshot written &amp; verified.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023360"/>
            <a:ext cx="10972800" cy="2011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0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Unit tests run anywhere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interest mathematics; no database required.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0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Integration tests under real concurrency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DB-gated; assert no overdraft, no loss, no double spend.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0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Clickable proof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the same race is reproducible interactively in Admin then Race demo.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0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EAF0F7"/>
                </a:solidFill>
                <a:latin typeface="Calibri"/>
              </a:rPr>
              <a:t>Build without a live DB</a:t>
            </a:r>
            <a:r>
              <a:rPr sz="1300" b="0" i="0">
                <a:solidFill>
                  <a:srgbClr val="9DB0C8"/>
                </a:solidFill>
                <a:latin typeface="Calibri"/>
              </a:rPr>
              <a:t>  runtime SQLx queries; CI and the Dockerfile compile offline.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1" i="0" spc="180">
                <a:solidFill>
                  <a:srgbClr val="5CB6EA"/>
                </a:solidFill>
                <a:latin typeface="Trebuchet MS"/>
              </a:rPr>
              <a:t>HONESTY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106424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900" b="1" i="0">
                <a:solidFill>
                  <a:srgbClr val="EAF0F7"/>
                </a:solidFill>
                <a:latin typeface="Trebuchet MS"/>
              </a:rPr>
              <a:t>Limitations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1E2734"/>
          </a:solidFill>
          <a:ln w="15240">
            <a:solidFill>
              <a:srgbClr val="E07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50292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 i="0">
                <a:solidFill>
                  <a:srgbClr val="E07B75"/>
                </a:solidFill>
                <a:latin typeface="Trebuchet MS"/>
              </a:rPr>
              <a:t>Stated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029200" cy="3657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E07B7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EAF0F7"/>
                </a:solidFill>
                <a:latin typeface="Calibri"/>
              </a:rPr>
              <a:t>Dev deployment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terminates no TLS.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E07B7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EAF0F7"/>
                </a:solidFill>
                <a:latin typeface="Calibri"/>
              </a:rPr>
              <a:t>NRIC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stored in plaintext.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E07B7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EAF0F7"/>
                </a:solidFill>
                <a:latin typeface="Calibri"/>
              </a:rPr>
              <a:t>Known-origin login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password attempts not throttled.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E07B7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EAF0F7"/>
                </a:solidFill>
                <a:latin typeface="Calibri"/>
              </a:rPr>
              <a:t>Sessions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cookie-based, not server-side.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E07B7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EAF0F7"/>
                </a:solidFill>
                <a:latin typeface="Calibri"/>
              </a:rPr>
              <a:t>Loans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simple interest only.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E07B75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EAF0F7"/>
                </a:solidFill>
                <a:latin typeface="Calibri"/>
              </a:rPr>
              <a:t>Telegram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stands in for SMS.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73368" y="169164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1E2734"/>
          </a:solidFill>
          <a:ln w="15240">
            <a:solidFill>
              <a:srgbClr val="5CBD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847088"/>
            <a:ext cx="50292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 i="0">
                <a:solidFill>
                  <a:srgbClr val="5CBD92"/>
                </a:solidFill>
                <a:latin typeface="Trebuchet MS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286000"/>
            <a:ext cx="5029200" cy="3657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EAF0F7"/>
                </a:solidFill>
                <a:latin typeface="Calibri"/>
              </a:rPr>
              <a:t>SmsOtp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a drop-in OtpChannel implementation.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EAF0F7"/>
                </a:solidFill>
                <a:latin typeface="Calibri"/>
              </a:rPr>
              <a:t>Statements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PDF / CSV statement export.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EAF0F7"/>
                </a:solidFill>
                <a:latin typeface="Calibri"/>
              </a:rPr>
              <a:t>Limit maturation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scheduled rather than lazy.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EAF0F7"/>
                </a:solidFill>
                <a:latin typeface="Calibri"/>
              </a:rPr>
              <a:t>Dual control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staff-configurable threshold.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 i="0">
                <a:solidFill>
                  <a:srgbClr val="5CBD92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EAF0F7"/>
                </a:solidFill>
                <a:latin typeface="Calibri"/>
              </a:rPr>
              <a:t>Subtype accounts</a:t>
            </a:r>
            <a:r>
              <a:rPr sz="1250" b="0" i="0">
                <a:solidFill>
                  <a:srgbClr val="9DB0C8"/>
                </a:solidFill>
                <a:latin typeface="Calibri"/>
              </a:rPr>
              <a:t>  optional per-type AccountKind trait.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371600"/>
            <a:ext cx="109728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5CB6EA"/>
                </a:solidFill>
                <a:latin typeface="Trebuchet M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783080"/>
            <a:ext cx="1106424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4000" b="1" i="0">
                <a:solidFill>
                  <a:srgbClr val="EAF0F7"/>
                </a:solidFill>
                <a:latin typeface="Trebuchet MS"/>
              </a:rPr>
              <a:t>Safe · Accountable · Controlled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834640"/>
            <a:ext cx="146304" cy="640080"/>
          </a:xfrm>
          <a:prstGeom prst="roundRect">
            <a:avLst>
              <a:gd name="adj" fmla="val 40000"/>
            </a:avLst>
          </a:prstGeom>
          <a:solidFill>
            <a:srgbClr val="5CB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2834640"/>
            <a:ext cx="18288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700" b="1" i="0">
                <a:solidFill>
                  <a:srgbClr val="5CB6EA"/>
                </a:solidFill>
                <a:latin typeface="Trebuchet MS"/>
              </a:rPr>
              <a:t>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1488" y="2834640"/>
            <a:ext cx="905256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400" b="0" i="0">
                <a:solidFill>
                  <a:srgbClr val="9DB0C8"/>
                </a:solidFill>
                <a:latin typeface="Calibri"/>
              </a:rPr>
              <a:t>A provably concurrency-safe money engine: no race, no loss, no double spend.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03320"/>
            <a:ext cx="146304" cy="640080"/>
          </a:xfrm>
          <a:prstGeom prst="roundRect">
            <a:avLst>
              <a:gd name="adj" fmla="val 40000"/>
            </a:avLst>
          </a:prstGeom>
          <a:solidFill>
            <a:srgbClr val="5CB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3703320"/>
            <a:ext cx="18288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700" b="1" i="0">
                <a:solidFill>
                  <a:srgbClr val="5CBD92"/>
                </a:solidFill>
                <a:latin typeface="Trebuchet MS"/>
              </a:rPr>
              <a:t>Accountable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3703320"/>
            <a:ext cx="905256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400" b="0" i="0">
                <a:solidFill>
                  <a:srgbClr val="9DB0C8"/>
                </a:solidFill>
                <a:latin typeface="Calibri"/>
              </a:rPr>
              <a:t>Every action attributable in an append-only audit trail.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572000"/>
            <a:ext cx="146304" cy="640080"/>
          </a:xfrm>
          <a:prstGeom prst="roundRect">
            <a:avLst>
              <a:gd name="adj" fmla="val 40000"/>
            </a:avLst>
          </a:prstGeom>
          <a:solidFill>
            <a:srgbClr val="E3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572000"/>
            <a:ext cx="18288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700" b="1" i="0">
                <a:solidFill>
                  <a:srgbClr val="E3A948"/>
                </a:solidFill>
                <a:latin typeface="Trebuchet MS"/>
              </a:rPr>
              <a:t>Controlled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4572000"/>
            <a:ext cx="905256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400" b="0" i="0">
                <a:solidFill>
                  <a:srgbClr val="9DB0C8"/>
                </a:solidFill>
                <a:latin typeface="Calibri"/>
              </a:rPr>
              <a:t>Real bank controls: RBAC, maker-checker, four-eyes, out-of-band OTP.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32120"/>
            <a:ext cx="6949440" cy="731520"/>
          </a:xfrm>
          <a:prstGeom prst="roundRect">
            <a:avLst>
              <a:gd name="adj" fmla="val 5000"/>
            </a:avLst>
          </a:prstGeom>
          <a:solidFill>
            <a:srgbClr val="161C26"/>
          </a:solidFill>
          <a:ln w="15875">
            <a:solidFill>
              <a:srgbClr val="5CB6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5532120"/>
            <a:ext cx="667512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200" b="0" i="1">
                <a:solidFill>
                  <a:srgbClr val="9DB0C8"/>
                </a:solidFill>
                <a:latin typeface="Calibri"/>
              </a:rPr>
              <a:t>⊕  Live demo follows: see DEMO_SCENARIOS.md runsheet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5532120"/>
            <a:ext cx="402336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/>
            <a:r>
              <a:rPr sz="1600" b="1" i="0">
                <a:solidFill>
                  <a:srgbClr val="EAF0F7"/>
                </a:solidFill>
                <a:latin typeface="Trebuchet MS"/>
              </a:rPr>
              <a:t>Thank you · Questions?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5B6B86"/>
                </a:solidFill>
                <a:latin typeface="Calibri"/>
              </a:rPr>
              <a:t>FerroBank  ·  CSC1106 Web Programming  ·  Banking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5B6B86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