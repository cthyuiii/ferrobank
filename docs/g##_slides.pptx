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FerroBank is our solution for a robust, concurrency-safe banking web application. Introduce group and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member presents one continuous block: flow chart, why, then live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 then position FerroBank as the solution. Three design goals: Safe, Accountable, Controlled.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0. Separation of concerns; thin handlers, thick services; async on Tokio; fully SSR.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Rust uses traits, not classes. OtpChannel makes substitutability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Marks-heavy: three kinds of polymorphism, real encapsulation, composition over inheritance. The diagram shows traits, impls and OtpChannel.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10. RBAC = role-based access control; a cross-cutting guard written once in middleware.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Race demo is the visual twin of the integration tests. Audit log proves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Justify the architecture and OOP choices; this is where Individual Understanding marks are 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Flows 9 + 13.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Flows 6 + 8.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Maps the spec's concurrency focus one-to-one; pair with the race demo and integration tests as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M4 extended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technical heart: justify every concurrency and correctness decision. Technical Complexity marks live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Integrity enforced in the schema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 prove the engine's invariants under real concurrency.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three pillars.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CSC1106 WEB PROGRAMMING  ·  GROUP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51560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FerroBank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5156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  <a:latin typeface="Calibri"/>
              </a:rPr>
              <a:t>Iron-clad core banking, built in 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88136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 robust, concurrency-safe banking web application for the Banking System domain.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74920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Group  g##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[ Name 1 · SIT ID ]    [ Name 2 · SIT ID ]    [ Name 3 · SIT ID ]    [ Name 4 · SIT ID ]    [ Name 5 · SIT ID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Agenda &amp; speaker 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98448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640080" y="1682496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7335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27632"/>
            <a:ext cx="786384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1" i="0">
                <a:solidFill>
                  <a:srgbClr val="222B35"/>
                </a:solidFill>
                <a:latin typeface="Calibri"/>
              </a:rPr>
              <a:t>Architecture, platform &amp; 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1432" y="1627632"/>
            <a:ext cx="237744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400" b="0" i="0">
                <a:solidFill>
                  <a:srgbClr val="5A6B7B"/>
                </a:solidFill>
                <a:latin typeface="Calibri"/>
              </a:rPr>
              <a:t>[ Name 1 ]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322576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2459736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50591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04872"/>
            <a:ext cx="786384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1" i="0">
                <a:solidFill>
                  <a:srgbClr val="222B35"/>
                </a:solidFill>
                <a:latin typeface="Calibri"/>
              </a:rPr>
              <a:t>Authentication &amp;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1432" y="2404872"/>
            <a:ext cx="237744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400" b="0" i="0">
                <a:solidFill>
                  <a:srgbClr val="5A6B7B"/>
                </a:solidFill>
                <a:latin typeface="Calibri"/>
              </a:rPr>
              <a:t>[ Name 2 ]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3099815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3236976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2783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82112"/>
            <a:ext cx="786384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1" i="0">
                <a:solidFill>
                  <a:srgbClr val="222B35"/>
                </a:solidFill>
                <a:latin typeface="Calibri"/>
              </a:rPr>
              <a:t>Accounts, limits &amp; dual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3182112"/>
            <a:ext cx="237744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400" b="0" i="0">
                <a:solidFill>
                  <a:srgbClr val="5A6B7B"/>
                </a:solidFill>
                <a:latin typeface="Calibri"/>
              </a:rPr>
              <a:t>[ Name 3 ]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3877056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4014215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0507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59352"/>
            <a:ext cx="786384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1" i="0">
                <a:solidFill>
                  <a:srgbClr val="222B35"/>
                </a:solidFill>
                <a:latin typeface="Calibri"/>
              </a:rPr>
              <a:t>Transfer engine, concurrency &amp; fraud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3959352"/>
            <a:ext cx="237744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400" b="0" i="0">
                <a:solidFill>
                  <a:srgbClr val="5A6B7B"/>
                </a:solidFill>
                <a:latin typeface="Calibri"/>
              </a:rPr>
              <a:t>[ Name 4 ]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4654296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4791455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8231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736592"/>
            <a:ext cx="786384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1" i="0">
                <a:solidFill>
                  <a:srgbClr val="222B35"/>
                </a:solidFill>
                <a:latin typeface="Calibri"/>
              </a:rPr>
              <a:t>Loans &amp; lifecycle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4736592"/>
            <a:ext cx="237744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400" b="0" i="0">
                <a:solidFill>
                  <a:srgbClr val="5A6B7B"/>
                </a:solidFill>
                <a:latin typeface="Calibri"/>
              </a:rPr>
              <a:t>[ Name 5 ]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5431536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0080" y="5568695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559551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513831"/>
            <a:ext cx="786384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1" i="0">
                <a:solidFill>
                  <a:srgbClr val="222B35"/>
                </a:solidFill>
                <a:latin typeface="Calibri"/>
              </a:rPr>
              <a:t>Database, testing &amp; 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1432" y="5513831"/>
            <a:ext cx="237744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400" b="0" i="0">
                <a:solidFill>
                  <a:srgbClr val="5A6B7B"/>
                </a:solidFill>
                <a:latin typeface="Calibri"/>
              </a:rPr>
              <a:t>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Introduction: FerroBank as the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5A6B7B"/>
                </a:solidFill>
                <a:latin typeface="Calibri"/>
              </a:rPr>
              <a:t>A robust, concurrency-safe banking web application for the Banking System domain.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37160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572768"/>
            <a:ext cx="1088136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50" b="0" i="0">
                <a:solidFill>
                  <a:srgbClr val="222B35"/>
                </a:solidFill>
                <a:latin typeface="Calibri"/>
              </a:rPr>
              <a:t>The challenge: a bank's technical heart is moving money correctly under heavy concurrent load. A single race can create or destroy money, every action must be attributable to a person, and no one credential should be enough to move funds.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3B6EA5"/>
                </a:solidFill>
                <a:latin typeface="Calibri"/>
              </a:rPr>
              <a:t>Our solution delivers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0881360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Concurrency-safe money engine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FOR UPDATE row locks plus fund reservation: no overdraft, no loss, no double spend.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Accountable by design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an append-only audit trail ties every state change to a person.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Controlled like a real bank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RBAC, maker-checker, four-eyes loans, out-of-band OTP, fraud holds, auto-freeze.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Built to be safe and simple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Rust + Actix Web + PostgreSQL, fully server-side rendered, with compile-time-checked templates.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148840"/>
            <a:ext cx="1051560" cy="1051560"/>
          </a:xfrm>
          <a:prstGeom prst="roundRect">
            <a:avLst>
              <a:gd name="adj" fmla="val 1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12264"/>
            <a:ext cx="10515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194560"/>
            <a:ext cx="91440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3B6EA5"/>
                </a:solidFill>
                <a:latin typeface="Calibri"/>
              </a:rPr>
              <a:t>MEMBER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2542032"/>
            <a:ext cx="969264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Architecture, platform &amp;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419856"/>
            <a:ext cx="914400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5A6B7B"/>
                </a:solidFill>
                <a:latin typeface="Calibri"/>
              </a:rPr>
              <a:t>Speaker:  [ Name 1 ]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452628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4681728"/>
            <a:ext cx="201168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3B6EA5"/>
                </a:solidFill>
                <a:latin typeface="Calibri"/>
              </a:rPr>
              <a:t>This section covers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92624"/>
            <a:ext cx="1088136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 i="0">
                <a:solidFill>
                  <a:srgbClr val="222B35"/>
                </a:solidFill>
                <a:latin typeface="Calibri"/>
              </a:rPr>
              <a:t>›  Architecture &amp; OOP design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   </a:t>
            </a:r>
            <a:r>
              <a:rPr sz="1400" b="0" i="0">
                <a:solidFill>
                  <a:srgbClr val="222B35"/>
                </a:solidFill>
                <a:latin typeface="Calibri"/>
              </a:rPr>
              <a:t>›  RBAC &amp; sessions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   </a:t>
            </a:r>
            <a:r>
              <a:rPr sz="1400" b="0" i="0">
                <a:solidFill>
                  <a:srgbClr val="222B35"/>
                </a:solidFill>
                <a:latin typeface="Calibri"/>
              </a:rPr>
              <a:t>›  Admin dashboard, audit &amp; race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Architecture: thin handlers, thick services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5A6B7B"/>
                </a:solidFill>
                <a:latin typeface="Calibri"/>
              </a:rPr>
              <a:t>Browser to middleware to handler (thin) to service trait (thick) to SQLx to PostgreSQL to Askama HTML.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37160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rch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8083"/>
            <a:ext cx="10881360" cy="15295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429000"/>
            <a:ext cx="6400800" cy="2377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Layered &amp; modular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  handlers parse and render; all business rules live behind seven service traits.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Async throughout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  Tokio runtime; every DB and network call awaits, so few threads serve many sessions.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Server-side rendered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  Askama templates are compile-time checked; a renamed field is a build error, not a 500.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383280"/>
            <a:ext cx="3977639" cy="24688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3520440"/>
            <a:ext cx="35661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Stack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40480"/>
            <a:ext cx="3749039" cy="1920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Framework:  </a:t>
            </a:r>
            <a:r>
              <a:rPr sz="1200" b="0" i="0">
                <a:solidFill>
                  <a:srgbClr val="222B35"/>
                </a:solidFill>
                <a:latin typeface="Calibri"/>
              </a:rPr>
              <a:t>Actix Web 4 (Rust)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Templates:  </a:t>
            </a:r>
            <a:r>
              <a:rPr sz="1200" b="0" i="0">
                <a:solidFill>
                  <a:srgbClr val="222B35"/>
                </a:solidFill>
                <a:latin typeface="Calibri"/>
              </a:rPr>
              <a:t>Askama (compile-time)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Database:  </a:t>
            </a:r>
            <a:r>
              <a:rPr sz="1200" b="0" i="0">
                <a:solidFill>
                  <a:srgbClr val="222B35"/>
                </a:solidFill>
                <a:latin typeface="Calibri"/>
              </a:rPr>
              <a:t>PostgreSQL 16 · SQLx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Money:  </a:t>
            </a:r>
            <a:r>
              <a:rPr sz="1200" b="0" i="0">
                <a:solidFill>
                  <a:srgbClr val="222B35"/>
                </a:solidFill>
                <a:latin typeface="Calibri"/>
              </a:rPr>
              <a:t>NUMERIC, not floats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OTP:  </a:t>
            </a:r>
            <a:r>
              <a:rPr sz="1200" b="0" i="0">
                <a:solidFill>
                  <a:srgbClr val="222B35"/>
                </a:solidFill>
                <a:latin typeface="Calibri"/>
              </a:rPr>
              <a:t>Telegram Bot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Object-oriented design in Rust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5A6B7B"/>
                </a:solidFill>
                <a:latin typeface="Calibri"/>
              </a:rPr>
              <a:t>The four OOP properties the module asks for, mapped to FerroBank.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37160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645920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92224"/>
            <a:ext cx="4983479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Encapsulation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94560"/>
            <a:ext cx="4937759" cy="1417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5A6B7B"/>
                </a:solidFill>
                <a:latin typeface="Calibri"/>
              </a:rPr>
              <a:t>Each Pg service hides a private pool; state such as balance changes only through methods.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792224"/>
            <a:ext cx="4983479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Abstraction (traits)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194560"/>
            <a:ext cx="4937759" cy="1417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5A6B7B"/>
                </a:solidFill>
                <a:latin typeface="Calibri"/>
              </a:rPr>
              <a:t>Seven service traits define behaviour; the Pg structs implement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59352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05656"/>
            <a:ext cx="4983479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Polymorphism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507992"/>
            <a:ext cx="4937759" cy="1417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5A6B7B"/>
                </a:solidFill>
                <a:latin typeface="Calibri"/>
              </a:rPr>
              <a:t>Arc&lt;dyn Trait&gt; dynamic dispatch; an implementation is swapped at startup.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959352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4105656"/>
            <a:ext cx="4983479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Concurrency 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4507992"/>
            <a:ext cx="4937759" cy="1417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5A6B7B"/>
                </a:solidFill>
                <a:latin typeface="Calibri"/>
              </a:rPr>
              <a:t>Arc-shared, Mutex-guarded state over DB row locks; the compiler rules out data races.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OOP in practice: traits, dispatch &amp; encapsulation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5A6B7B"/>
                </a:solidFill>
                <a:latin typeface="Calibri"/>
              </a:rPr>
              <a:t>Handlers depend on traits; Postgres structs implement them; OtpChannel shows runtime polymorphism.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37160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oop_tra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58" y="1481328"/>
            <a:ext cx="10030602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553712"/>
            <a:ext cx="10881360" cy="1783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Dynamic dispatch = runtime polymorphism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  one Arc&lt;dyn Trait&gt; holds any implementation, chosen at startup; a mock swaps in for tests.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Encapsulation enforced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  each Pg service hides its pool and internal types; state changes only through locked methods.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Inheritance Rust-style, plus parametric &amp; ad-hoc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  supertraits and AdminService composing services replace class inheritance; generics and enum methods add the rest.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Role-based access (RBAC), sessions &amp; the activity guard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1 ]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6355080" cy="4572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RequireRole guard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route scopes via .wrap(); admin is a superuser over teller.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CurrentUser extractor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implements Actix FromRequest; a missing session redirects to /login.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ActivityGuard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logs user id, method and path on every request: the activity trail.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Five-minute inactivity TTL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measured on database time, not the client clock.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Link enforcement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customers must link Telegram before using the bank.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Per-boot session key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secret plus a per-boot nonce, so a restart logs everyone out.</a:t>
            </a:r>
          </a:p>
        </p:txBody>
      </p:sp>
      <p:pic>
        <p:nvPicPr>
          <p:cNvPr id="7" name="Picture 6" descr="rb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422612"/>
            <a:ext cx="4343400" cy="29728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Admin dashboard, audit trail &amp; race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1 ]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6400800" cy="4572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Dashboard snapshot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totals plus a fraud panel: large, structuring, velocity, rejected.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Append-only audit log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every state change; per-user filter and show-more.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Interactive race demo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fires N concurrent transfers through create then confirm.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Money-conservation card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start equals end to the cent; balance never negative.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Graceful shutdown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Ctrl-C writes a system.snapshot forensic marker.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600200"/>
            <a:ext cx="4069080" cy="42976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783080"/>
            <a:ext cx="36118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Screenshots to add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194560"/>
            <a:ext cx="3657600" cy="34747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22B35"/>
                </a:solidFill>
                <a:latin typeface="Calibri"/>
              </a:rPr>
              <a:t>Admin dashboard</a:t>
            </a:r>
            <a:r>
              <a:rPr sz="1200" b="0" i="0">
                <a:solidFill>
                  <a:srgbClr val="5A6B7B"/>
                </a:solidFill>
                <a:latin typeface="Calibri"/>
              </a:rPr>
              <a:t>  fraud panel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22B35"/>
                </a:solidFill>
                <a:latin typeface="Calibri"/>
              </a:rPr>
              <a:t>Race demo</a:t>
            </a:r>
            <a:r>
              <a:rPr sz="1200" b="0" i="0">
                <a:solidFill>
                  <a:srgbClr val="5A6B7B"/>
                </a:solidFill>
                <a:latin typeface="Calibri"/>
              </a:rPr>
              <a:t>  money-conserved card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22B35"/>
                </a:solidFill>
                <a:latin typeface="Calibri"/>
              </a:rPr>
              <a:t>Audit log</a:t>
            </a:r>
            <a:r>
              <a:rPr sz="1200" b="0" i="0">
                <a:solidFill>
                  <a:srgbClr val="5A6B7B"/>
                </a:solidFill>
                <a:latin typeface="Calibri"/>
              </a:rPr>
              <a:t>  per-user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Design rationale: why we built it this 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5A6B7B"/>
                </a:solidFill>
                <a:latin typeface="Calibri"/>
              </a:rPr>
              <a:t>Platform &amp; architecture · [ Name 1 ]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37160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572768"/>
            <a:ext cx="10881360" cy="23317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Thin handlers, thick services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business rules live in one testable place; handlers stay trivial, so logic is easy to test and swap.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Traits + Arc&lt;dyn&gt; over concrete types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lets us mock services in tests and swap a backend (e.g. OtpChannel) without touching a handler: the OOP the module rewards.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Guards in middleware, not handlers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auth, role checks, TTL and logging are written once, so no handler can forget them and security can't be bypassed by omission.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Server-side rendering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compile-time-checked templates catch errors at build with a smaller attack surface than a single-page app.</a:t>
            </a:r>
          </a:p>
        </p:txBody>
      </p:sp>
      <p:pic>
        <p:nvPicPr>
          <p:cNvPr id="8" name="Picture 7" descr="arch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424435"/>
            <a:ext cx="10881360" cy="15295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 i="0" spc="140">
                <a:solidFill>
                  <a:srgbClr val="3B6EA5"/>
                </a:solidFill>
                <a:latin typeface="Calibri"/>
              </a:rPr>
              <a:t>MEMBER 1 ·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05840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Calibri"/>
              </a:rPr>
              <a:t>Demo portion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5A6B7B"/>
                </a:solidFill>
                <a:latin typeface="Calibri"/>
              </a:rPr>
              <a:t>Platform &amp; admin   ·   Speaker: [ Name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222B35"/>
                </a:solidFill>
                <a:latin typeface="Calibri"/>
              </a:rPr>
              <a:t>We'll now switch to the recorded demonstration.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70332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3B6EA5"/>
                </a:solidFill>
                <a:latin typeface="Calibri"/>
              </a:rPr>
              <a:t>The demo will 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9663"/>
            <a:ext cx="10972800" cy="2103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S1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RBAC tour and the friendly 403 page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S17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Inactivity logout after 5 minutes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S6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Fraud panel tour on the dashboard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S9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Audit log search: filter by event or user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148840"/>
            <a:ext cx="1051560" cy="1051560"/>
          </a:xfrm>
          <a:prstGeom prst="roundRect">
            <a:avLst>
              <a:gd name="adj" fmla="val 1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12264"/>
            <a:ext cx="10515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194560"/>
            <a:ext cx="91440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3B6EA5"/>
                </a:solidFill>
                <a:latin typeface="Calibri"/>
              </a:rPr>
              <a:t>MEMBER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2542032"/>
            <a:ext cx="969264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Authentication &amp;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419856"/>
            <a:ext cx="914400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5A6B7B"/>
                </a:solidFill>
                <a:latin typeface="Calibri"/>
              </a:rPr>
              <a:t>Speaker:  [ Name 2 ]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452628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4681728"/>
            <a:ext cx="201168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3B6EA5"/>
                </a:solidFill>
                <a:latin typeface="Calibri"/>
              </a:rPr>
              <a:t>This section covers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92624"/>
            <a:ext cx="1088136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 i="0">
                <a:solidFill>
                  <a:srgbClr val="222B35"/>
                </a:solidFill>
                <a:latin typeface="Calibri"/>
              </a:rPr>
              <a:t>›  Hardened sign-in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   </a:t>
            </a:r>
            <a:r>
              <a:rPr sz="1400" b="0" i="0">
                <a:solidFill>
                  <a:srgbClr val="222B35"/>
                </a:solidFill>
                <a:latin typeface="Calibri"/>
              </a:rPr>
              <a:t>›  Step-up login, device tracking &amp; linking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Sign-up &amp; sign-in, hardened in depth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2 ]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argon2id hashing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memory-hard, unique per-user salts, OWASP-recommended.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No user enumeration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identical error for a wrong email versus a wrong password.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No auto-login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register, then sign in explicitly.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Role-based landing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admin to dashboard, teller to loans, customer to accounts.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Parameterised queries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SQLx binds every value; no string-built SQL.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Step-up login, device tracking &amp; linking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2 ]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Risk-based step-up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a first-seen browser or network must present an OTP before any session exists.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Origin blocking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three wrong step-up codes block that device and network for 24 hours.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Device tracking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every login records browser family, IP, and first-seen flags.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Owner alerts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a new device or network triggers a Telegram security alert.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Hardened unlink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the bot unlink is delayed 24 hours, cancellable only from a password-backed session.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Design rationale: why we built it this 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2 ]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5A6B7B"/>
                </a:solidFill>
                <a:latin typeface="Calibri"/>
              </a:rPr>
              <a:t>Authentication &amp; identity · [ Name 2 ]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37160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572768"/>
            <a:ext cx="10881360" cy="23317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Out-of-band OTP plus step-up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a stolen password alone must not move money; layered factors are defense in depth.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argon2id and identical errors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industry-standard memory-hard hashing; identical errors stop attackers enumerating valid accounts.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Device tracking and a 24h unlink delay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surface takeovers early and deny an attacker an instant de-factoring, so the real owner wins the race.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TTL on database time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a frozen client clock or cleared cookies cannot extend a session.</a:t>
            </a:r>
          </a:p>
        </p:txBody>
      </p:sp>
      <p:pic>
        <p:nvPicPr>
          <p:cNvPr id="8" name="Picture 7" descr="aut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46" y="4114800"/>
            <a:ext cx="10692627" cy="2148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 i="0" spc="140">
                <a:solidFill>
                  <a:srgbClr val="3B6EA5"/>
                </a:solidFill>
                <a:latin typeface="Calibri"/>
              </a:rPr>
              <a:t>MEMBER 2 ·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05840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Calibri"/>
              </a:rPr>
              <a:t>Demo portion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5A6B7B"/>
                </a:solidFill>
                <a:latin typeface="Calibri"/>
              </a:rPr>
              <a:t>Authentication &amp; identity   ·   Speaker: [ Name 2 ]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222B35"/>
                </a:solidFill>
                <a:latin typeface="Calibri"/>
              </a:rPr>
              <a:t>We'll now switch to the recorded demonstration.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70332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3B6EA5"/>
                </a:solidFill>
                <a:latin typeface="Calibri"/>
              </a:rPr>
              <a:t>The demo will 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9663"/>
            <a:ext cx="10972800" cy="2103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S13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Register with names and NRIC, then forced Telegram linking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S11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Telegram OTP delivery; bot /unlink and /help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S18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OTP on profile changes (email/password) plus 3 strikes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S19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New-device alert and the /staff/users view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S20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Step-up login, hardened unlink and origin blocking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148840"/>
            <a:ext cx="1051560" cy="1051560"/>
          </a:xfrm>
          <a:prstGeom prst="roundRect">
            <a:avLst>
              <a:gd name="adj" fmla="val 1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12264"/>
            <a:ext cx="10515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194560"/>
            <a:ext cx="91440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3B6EA5"/>
                </a:solidFill>
                <a:latin typeface="Calibri"/>
              </a:rPr>
              <a:t>MEMBER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2542032"/>
            <a:ext cx="969264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Accounts, limits &amp; dual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419856"/>
            <a:ext cx="914400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5A6B7B"/>
                </a:solidFill>
                <a:latin typeface="Calibri"/>
              </a:rPr>
              <a:t>Speaker:  [ Name 3 ]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452628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4681728"/>
            <a:ext cx="201168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3B6EA5"/>
                </a:solidFill>
                <a:latin typeface="Calibri"/>
              </a:rPr>
              <a:t>This section covers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92624"/>
            <a:ext cx="1088136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 i="0">
                <a:solidFill>
                  <a:srgbClr val="222B35"/>
                </a:solidFill>
                <a:latin typeface="Calibri"/>
              </a:rPr>
              <a:t>›  Maker-checker opening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   </a:t>
            </a:r>
            <a:r>
              <a:rPr sz="1400" b="0" i="0">
                <a:solidFill>
                  <a:srgbClr val="222B35"/>
                </a:solidFill>
                <a:latin typeface="Calibri"/>
              </a:rPr>
              <a:t>›  Limit holds &amp; dual-control adjustments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Account opening: maker-checker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3 ]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Self-open to pending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a customer application creates a pending account.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Maker-checker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a teller or admin approves it to active.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Admin-open to active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staff opening on a customer's behalf is immediate.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DB trigger guard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only customers may own accounts, enforced in the schema.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OTP-gated and live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opening needs a code; the pending page self-refreshes on approval.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Limit holds &amp; dual-control adjustments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3 ]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22B35"/>
                </a:solidFill>
                <a:latin typeface="Calibri"/>
              </a:rPr>
              <a:t>Decrease applies now</a:t>
            </a:r>
            <a:r>
              <a:rPr sz="1350" b="0" i="0">
                <a:solidFill>
                  <a:srgbClr val="5A6B7B"/>
                </a:solidFill>
                <a:latin typeface="Calibri"/>
              </a:rPr>
              <a:t>  lowering a limit reduces risk, so it is immediate.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22B35"/>
                </a:solidFill>
                <a:latin typeface="Calibri"/>
              </a:rPr>
              <a:t>Increase is held 12h</a:t>
            </a:r>
            <a:r>
              <a:rPr sz="1350" b="0" i="0">
                <a:solidFill>
                  <a:srgbClr val="5A6B7B"/>
                </a:solidFill>
                <a:latin typeface="Calibri"/>
              </a:rPr>
              <a:t>  a consent popup; the old limit applies until maturity.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22B35"/>
                </a:solidFill>
                <a:latin typeface="Calibri"/>
              </a:rPr>
              <a:t>Runtime-checked promotion</a:t>
            </a:r>
            <a:r>
              <a:rPr sz="1350" b="0" i="0">
                <a:solidFill>
                  <a:srgbClr val="5A6B7B"/>
                </a:solidFill>
                <a:latin typeface="Calibri"/>
              </a:rPr>
              <a:t>  matured rows are promoted on every read and before each transfer.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22B35"/>
                </a:solidFill>
                <a:latin typeface="Calibri"/>
              </a:rPr>
              <a:t>Adjustments up to $1,000</a:t>
            </a:r>
            <a:r>
              <a:rPr sz="1350" b="0" i="0">
                <a:solidFill>
                  <a:srgbClr val="5A6B7B"/>
                </a:solidFill>
                <a:latin typeface="Calibri"/>
              </a:rPr>
              <a:t>  apply immediately under a row lock, audited.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22B35"/>
                </a:solidFill>
                <a:latin typeface="Calibri"/>
              </a:rPr>
              <a:t>Adjustments over $1,000</a:t>
            </a:r>
            <a:r>
              <a:rPr sz="1350" b="0" i="0">
                <a:solidFill>
                  <a:srgbClr val="5A6B7B"/>
                </a:solidFill>
                <a:latin typeface="Calibri"/>
              </a:rPr>
              <a:t>  parked for the other staff role to approve.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22B35"/>
                </a:solidFill>
                <a:latin typeface="Calibri"/>
              </a:rPr>
              <a:t>Same person or role refused</a:t>
            </a:r>
            <a:r>
              <a:rPr sz="1350" b="0" i="0">
                <a:solidFill>
                  <a:srgbClr val="5A6B7B"/>
                </a:solidFill>
                <a:latin typeface="Calibri"/>
              </a:rPr>
              <a:t>  a negative result is refused under lock.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Design rationale: why we built it this 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3 ]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5A6B7B"/>
                </a:solidFill>
                <a:latin typeface="Calibri"/>
              </a:rPr>
              <a:t>Accounts, limits &amp; dual control · [ Name 3 ]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37160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572768"/>
            <a:ext cx="10881360" cy="23317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Maker-checker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real banks separate the requester from the approver, which cuts insider risk and simple mistakes.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Held increases, instant decreases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risk-increasing changes cool off so a hijack can't raise the ceiling and drain in one sitting; risk-reducing changes apply at once.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Dual control over $1,000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four-eyes on large balance edits, so no single staffer can move big money alone.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Guards in the schema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a database trigger blocks staff-owned accounts even if a service-layer bug slipped through.</a:t>
            </a:r>
          </a:p>
        </p:txBody>
      </p:sp>
      <p:pic>
        <p:nvPicPr>
          <p:cNvPr id="8" name="Picture 7" descr="accou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597" y="4114800"/>
            <a:ext cx="6068324" cy="2148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 i="0" spc="140">
                <a:solidFill>
                  <a:srgbClr val="3B6EA5"/>
                </a:solidFill>
                <a:latin typeface="Calibri"/>
              </a:rPr>
              <a:t>MEMBER 3 ·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05840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Calibri"/>
              </a:rPr>
              <a:t>Demo portion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5A6B7B"/>
                </a:solidFill>
                <a:latin typeface="Calibri"/>
              </a:rPr>
              <a:t>Accounts &amp; limits   ·   Speaker: [ Name 3 ]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222B35"/>
                </a:solidFill>
                <a:latin typeface="Calibri"/>
              </a:rPr>
              <a:t>We'll now switch to the recorded demonstration.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70332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3B6EA5"/>
                </a:solidFill>
                <a:latin typeface="Calibri"/>
              </a:rPr>
              <a:t>The demo will 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9663"/>
            <a:ext cx="10972800" cy="2103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S10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Open an account with OTP; the pending page refreshes on approval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S14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Alice's 10-second limit hold maturing live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S7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Admin account CRUD: open, adjust, freeze/unfreeze, close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Flow 8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Parked over-$1,000 adjustment approved by the other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148840"/>
            <a:ext cx="1051560" cy="1051560"/>
          </a:xfrm>
          <a:prstGeom prst="roundRect">
            <a:avLst>
              <a:gd name="adj" fmla="val 1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12264"/>
            <a:ext cx="10515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194560"/>
            <a:ext cx="91440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3B6EA5"/>
                </a:solidFill>
                <a:latin typeface="Calibri"/>
              </a:rPr>
              <a:t>MEMBER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2542032"/>
            <a:ext cx="969264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The concurrency-safe transfer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419856"/>
            <a:ext cx="914400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5A6B7B"/>
                </a:solidFill>
                <a:latin typeface="Calibri"/>
              </a:rPr>
              <a:t>Speaker:  [ Name 4 ]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452628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4681728"/>
            <a:ext cx="201168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3B6EA5"/>
                </a:solidFill>
                <a:latin typeface="Calibri"/>
              </a:rPr>
              <a:t>This section covers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92624"/>
            <a:ext cx="1088136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 i="0">
                <a:solidFill>
                  <a:srgbClr val="222B35"/>
                </a:solidFill>
                <a:latin typeface="Calibri"/>
              </a:rPr>
              <a:t>›  Two-phase engine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   </a:t>
            </a:r>
            <a:r>
              <a:rPr sz="1400" b="0" i="0">
                <a:solidFill>
                  <a:srgbClr val="222B35"/>
                </a:solidFill>
                <a:latin typeface="Calibri"/>
              </a:rPr>
              <a:t>›  Concurrency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   </a:t>
            </a:r>
            <a:r>
              <a:rPr sz="1400" b="0" i="0">
                <a:solidFill>
                  <a:srgbClr val="222B35"/>
                </a:solidFill>
                <a:latin typeface="Calibri"/>
              </a:rPr>
              <a:t>›  Fraud holds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   </a:t>
            </a:r>
            <a:r>
              <a:rPr sz="1400" b="0" i="0">
                <a:solidFill>
                  <a:srgbClr val="222B35"/>
                </a:solidFill>
                <a:latin typeface="Calibri"/>
              </a:rPr>
              <a:t>›  Out-of-band OTP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Two-phase transfer + fund reservation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4 ]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5A6B7B"/>
                </a:solidFill>
                <a:latin typeface="Calibri"/>
              </a:rPr>
              <a:t>FerroBank's secure transaction verification workflow: validate, confirm with OTP, then move money under lock.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37160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transfer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39891"/>
            <a:ext cx="3886200" cy="46468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83480" y="1600200"/>
            <a:ext cx="6492240" cy="4572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Phase 1, create()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validate, pre-check funds, available balance, limit, Mutex rate-limit, issue OTP. No money moves.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Phase 2, confirm()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verify OTP, lock both accounts, re-check, then debit, credit and finalise in one transaction.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Funds reserved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both paths check the available balance: raw balance minus funds committed to pending / on-hold transfers.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Why it matters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the same money can't be promised twice; a held transfer keeps its funds for release.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500" b="1" i="0">
                <a:solidFill>
                  <a:srgbClr val="1F3A5F"/>
                </a:solidFill>
                <a:latin typeface="Calibri"/>
              </a:rPr>
              <a:t>Why simultaneous transfers can't corrupt balances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4 ]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ncurr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9888"/>
            <a:ext cx="5577840" cy="28781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846320"/>
            <a:ext cx="5760720" cy="1371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22B35"/>
                </a:solidFill>
                <a:latin typeface="Calibri"/>
              </a:rPr>
              <a:t>FOR UPDATE row locks</a:t>
            </a:r>
            <a:r>
              <a:rPr sz="1200" b="0" i="0">
                <a:solidFill>
                  <a:srgbClr val="5A6B7B"/>
                </a:solidFill>
                <a:latin typeface="Calibri"/>
              </a:rPr>
              <a:t>  serialize the balance check inside a transaction.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22B35"/>
                </a:solidFill>
                <a:latin typeface="Calibri"/>
              </a:rPr>
              <a:t>Ascending-id lock order</a:t>
            </a:r>
            <a:r>
              <a:rPr sz="1200" b="0" i="0">
                <a:solidFill>
                  <a:srgbClr val="5A6B7B"/>
                </a:solidFill>
                <a:latin typeface="Calibri"/>
              </a:rPr>
              <a:t>  makes deadlock impossible.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22B35"/>
                </a:solidFill>
                <a:latin typeface="Calibri"/>
              </a:rPr>
              <a:t>Explicit rollback</a:t>
            </a:r>
            <a:r>
              <a:rPr sz="1200" b="0" i="0">
                <a:solidFill>
                  <a:srgbClr val="5A6B7B"/>
                </a:solidFill>
                <a:latin typeface="Calibri"/>
              </a:rPr>
              <a:t>  a partial debit can never be committed.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554480"/>
            <a:ext cx="4709160" cy="20116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240280"/>
            <a:ext cx="438912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4000" b="1" i="0">
                <a:solidFill>
                  <a:srgbClr val="1F3A5F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783080"/>
            <a:ext cx="429768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50" b="0" i="0">
                <a:solidFill>
                  <a:srgbClr val="5A6B7B"/>
                </a:solidFill>
                <a:latin typeface="Calibri"/>
              </a:rPr>
              <a:t>overdrafts · lost dollars · double-spends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971800"/>
            <a:ext cx="42976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 i="0">
                <a:solidFill>
                  <a:srgbClr val="5A6B7B"/>
                </a:solidFill>
                <a:latin typeface="Calibri"/>
              </a:rPr>
              <a:t>proven by integration tests and the in-app race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794760"/>
            <a:ext cx="4754880" cy="21945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222B35"/>
                </a:solidFill>
                <a:latin typeface="Calibri"/>
              </a:rPr>
              <a:t>Two concurrency layers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  Mutex rate-limiter (app) over DB row locks (correctness).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222B35"/>
                </a:solidFill>
                <a:latin typeface="Calibri"/>
              </a:rPr>
              <a:t>Money as NUMERIC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  a decimal type, never floating 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1F3A5F"/>
                </a:solidFill>
                <a:latin typeface="Calibri"/>
              </a:rPr>
              <a:t>Concurrency safety mechanisms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4 ]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5A6B7B"/>
                </a:solidFill>
                <a:latin typeface="Calibri"/>
              </a:rPr>
              <a:t>Thread safety, transactional consistency, Mutex locking, rollback and concurrent request handling.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37160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627632"/>
            <a:ext cx="10881360" cy="397763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Thread safety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Rust's Send + Sync bounds and the borrow checker make shared mutable state without synchronisation a compile error, so data races can't ship.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Transactional consistency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debit, credit and finalise run inside one SQL transaction (BEGIN ... COMMIT): all of it commits, or none of it does.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Mutex locking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a tokio::sync::Mutex rate-limiter caps each account's bursts in memory before they reach the database.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Row-level locks (SELECT ... FOR UPDATE)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taken in ascending account-id order, so concurrent confirms can't both overdraw and deadlock is impossible.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Rollback mechanisms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any error inside confirm() triggers an explicit rollback; a partial debit is never committed.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Concurrent request handling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async on Tokio: awaiting rather than blocking lets a few worker threads serve many simultaneous transfers.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70448"/>
            <a:ext cx="10881360" cy="47548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70448"/>
            <a:ext cx="1088136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1F3A5F"/>
                </a:solidFill>
                <a:latin typeface="Calibri"/>
              </a:rPr>
              <a:t>Result: no race conditions, no inconsistent balances, no double spending.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Fraud holds, identity review &amp; hijack defense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4 ]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raud_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4063"/>
            <a:ext cx="5212080" cy="33813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1600200"/>
            <a:ext cx="5349240" cy="4572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Four fraud rules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over $10k, structuring, over-50% drain of a $5k+ balance, 4+ per hour.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Held, not moved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a match parks the transfer on hold; the money is untouched.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Identity review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customer states purpose and NRIC; staff compare to the NRIC on file.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Release or deny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released money moves under the same locks; a denial is explained.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22B35"/>
                </a:solidFill>
                <a:latin typeface="Calibri"/>
              </a:rPr>
              <a:t>Auto-freeze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three overdraft attempts in 24h freeze the account.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Out-of-band OTP &amp; the OtpChannel trait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4 ]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6583680" cy="4572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22B35"/>
                </a:solidFill>
                <a:latin typeface="Calibri"/>
              </a:rPr>
              <a:t>OtpChannel trait</a:t>
            </a:r>
            <a:r>
              <a:rPr sz="1350" b="0" i="0">
                <a:solidFill>
                  <a:srgbClr val="5A6B7B"/>
                </a:solidFill>
                <a:latin typeface="Calibri"/>
              </a:rPr>
              <a:t>  TelegramOtp delivers out-of-band; ScreenOtp is the fallback.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22B35"/>
                </a:solidFill>
                <a:latin typeface="Calibri"/>
              </a:rPr>
              <a:t>Runtime polymorphism</a:t>
            </a:r>
            <a:r>
              <a:rPr sz="1350" b="0" i="0">
                <a:solidFill>
                  <a:srgbClr val="5A6B7B"/>
                </a:solidFill>
                <a:latin typeface="Calibri"/>
              </a:rPr>
              <a:t>  the engine never knows which channel it holds; SMS is a drop-in.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22B35"/>
                </a:solidFill>
                <a:latin typeface="Calibri"/>
              </a:rPr>
              <a:t>One OTP discipline</a:t>
            </a:r>
            <a:r>
              <a:rPr sz="1350" b="0" i="0">
                <a:solidFill>
                  <a:srgbClr val="5A6B7B"/>
                </a:solidFill>
                <a:latin typeface="Calibri"/>
              </a:rPr>
              <a:t>  one guard for transfers, opening, loans, limits, profile, unlink, risky logins.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22B35"/>
                </a:solidFill>
                <a:latin typeface="Calibri"/>
              </a:rPr>
              <a:t>Hashed and bounded</a:t>
            </a:r>
            <a:r>
              <a:rPr sz="1350" b="0" i="0">
                <a:solidFill>
                  <a:srgbClr val="5A6B7B"/>
                </a:solidFill>
                <a:latin typeface="Calibri"/>
              </a:rPr>
              <a:t>  argon2id-hashed at rest, single-use, 10-minute expiry, 3-strike budget.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22B35"/>
                </a:solidFill>
                <a:latin typeface="Calibri"/>
              </a:rPr>
              <a:t>Invisible to attackers</a:t>
            </a:r>
            <a:r>
              <a:rPr sz="1350" b="0" i="0">
                <a:solidFill>
                  <a:srgbClr val="5A6B7B"/>
                </a:solidFill>
                <a:latin typeface="Calibri"/>
              </a:rPr>
              <a:t>  codes never appear on screen for linked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600200"/>
            <a:ext cx="3977639" cy="42062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783080"/>
            <a:ext cx="35661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Screenshots to add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194560"/>
            <a:ext cx="3566160" cy="3383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22B35"/>
                </a:solidFill>
                <a:latin typeface="Calibri"/>
              </a:rPr>
              <a:t>Telegram OTP</a:t>
            </a:r>
            <a:r>
              <a:rPr sz="1200" b="0" i="0">
                <a:solidFill>
                  <a:srgbClr val="5A6B7B"/>
                </a:solidFill>
                <a:latin typeface="Calibri"/>
              </a:rPr>
              <a:t>  code in chat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22B35"/>
                </a:solidFill>
                <a:latin typeface="Calibri"/>
              </a:rPr>
              <a:t>Linked confirmation</a:t>
            </a:r>
            <a:r>
              <a:rPr sz="1200" b="0" i="0">
                <a:solidFill>
                  <a:srgbClr val="5A6B7B"/>
                </a:solidFill>
                <a:latin typeface="Calibri"/>
              </a:rPr>
              <a:t>  Linked!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22B35"/>
                </a:solidFill>
                <a:latin typeface="Calibri"/>
              </a:rPr>
              <a:t>Transfer notice</a:t>
            </a:r>
            <a:r>
              <a:rPr sz="1200" b="0" i="0">
                <a:solidFill>
                  <a:srgbClr val="5A6B7B"/>
                </a:solidFill>
                <a:latin typeface="Calibri"/>
              </a:rPr>
              <a:t>  You received $X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Design rationale: why we built it this 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4 ]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5A6B7B"/>
                </a:solidFill>
                <a:latin typeface="Calibri"/>
              </a:rPr>
              <a:t>The transfer engine · [ Name 4 ]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37160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627632"/>
            <a:ext cx="6309360" cy="4572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Two-phase create/confirm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the confirm step plus an OTP proves intent, and money only moves under the lock.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FOR UPDATE row locks in id order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the database is the single source of truth, so locking there (not in app code) is what truly prevents races; ordering removes deadlock.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Fund reservation (available vs pending)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stops the same money being promised twice or a held transfer being drained.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Fraud rules under the same lock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a hold can never race a completion; the checks and the money move are atomic.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Money as NUMERIC / rust_decimal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floats cannot represent cents exactly; decimals keep balances correct.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Mutex rate-limit as a pre-filter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a cheap in-memory guard stops bursts before they ever reach the DB locks.</a:t>
            </a:r>
          </a:p>
        </p:txBody>
      </p:sp>
      <p:pic>
        <p:nvPicPr>
          <p:cNvPr id="8" name="Picture 7" descr="concurr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822396"/>
            <a:ext cx="4389120" cy="22647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 i="0" spc="140">
                <a:solidFill>
                  <a:srgbClr val="3B6EA5"/>
                </a:solidFill>
                <a:latin typeface="Calibri"/>
              </a:rPr>
              <a:t>MEMBER 4 ·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05840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Calibri"/>
              </a:rPr>
              <a:t>Demo portion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5A6B7B"/>
                </a:solidFill>
                <a:latin typeface="Calibri"/>
              </a:rPr>
              <a:t>The transfer engine   ·   Speaker: [ Name 4 ]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222B35"/>
                </a:solidFill>
                <a:latin typeface="Calibri"/>
              </a:rPr>
              <a:t>We'll now switch to the recorded demonstration.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70332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3B6EA5"/>
                </a:solidFill>
                <a:latin typeface="Calibri"/>
              </a:rPr>
              <a:t>The demo will 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9663"/>
            <a:ext cx="10972800" cy="2103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S2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Transfer with Telegram OTP and named messages both ways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S4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Rejection reasons (insufficient funds, frozen)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S5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Rate limit triggers on the 6th attempt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S3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Race demo page plus cargo test; money conserved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S15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Fraud hold: purpose and NRIC, then release or deny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S16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Hijack freeze after three overdraft attempts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148840"/>
            <a:ext cx="1051560" cy="1051560"/>
          </a:xfrm>
          <a:prstGeom prst="roundRect">
            <a:avLst>
              <a:gd name="adj" fmla="val 1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12264"/>
            <a:ext cx="10515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194560"/>
            <a:ext cx="91440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3B6EA5"/>
                </a:solidFill>
                <a:latin typeface="Calibri"/>
              </a:rPr>
              <a:t>MEMBER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2542032"/>
            <a:ext cx="969264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Loans &amp; system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419856"/>
            <a:ext cx="914400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5A6B7B"/>
                </a:solidFill>
                <a:latin typeface="Calibri"/>
              </a:rPr>
              <a:t>Speaker:  [ Name 5 ]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452628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4681728"/>
            <a:ext cx="201168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3B6EA5"/>
                </a:solidFill>
                <a:latin typeface="Calibri"/>
              </a:rPr>
              <a:t>This section covers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92624"/>
            <a:ext cx="1088136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 i="0">
                <a:solidFill>
                  <a:srgbClr val="222B35"/>
                </a:solidFill>
                <a:latin typeface="Calibri"/>
              </a:rPr>
              <a:t>›  Four-eyes loan approval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   </a:t>
            </a:r>
            <a:r>
              <a:rPr sz="1400" b="0" i="0">
                <a:solidFill>
                  <a:srgbClr val="222B35"/>
                </a:solidFill>
                <a:latin typeface="Calibri"/>
              </a:rPr>
              <a:t>›  Repayments &amp; graceful shutdown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Loan lifecycle: four-eyes approval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5 ]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an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5386"/>
            <a:ext cx="3749039" cy="46159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0" y="1600200"/>
            <a:ext cx="6629400" cy="4572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Apply with OTP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principal, rate, term and a payout account, confirmed by code.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Pending expires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unapproved applications lapse after 7 days.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Four-eyes approval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one teller AND one admin; UNIQUE(loan_id, role) forces distinct roles.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Disbursement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principal credited to the payout account in the same transaction.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Scheduling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next payment due is now plus one month, set on disbursement.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Repayments &amp; graceful shutdown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5 ]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Repayment under lock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debits a chosen funding account in the same transaction.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Refuses bad states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inactive or underfunded accounts are rejected.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Progress tracking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paid off when outstanding hits zero; otherwise the due date advances a month.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Shutdown snapshot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Ctrl-C writes counts and totals as a system.snapshot audit event.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22B35"/>
                </a:solidFill>
                <a:latin typeface="Calibri"/>
              </a:rPr>
              <a:t>Durability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committed transactions survive via the Postgres write-ahead log; the snapshot is a marker.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Design rationale: why we built it this 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09176" y="54864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9176" y="548640"/>
            <a:ext cx="2139696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[ Name 5 ]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5A6B7B"/>
                </a:solidFill>
                <a:latin typeface="Calibri"/>
              </a:rPr>
              <a:t>Loans &amp; lifecycle · [ Name 5 ]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37160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627632"/>
            <a:ext cx="6309360" cy="4572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Four-eyes via UNIQUE(loan_id, role)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enforced in the schema, so even a service bug cannot approve a loan with a single role.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Repayments under the same locks as transfers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money movement is money movement; one safety model everywhere.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Graceful shutdown snapshot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durability is already guaranteed by the write-ahead log, so the snapshot is for observability, not recovery.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22B35"/>
                </a:solidFill>
                <a:latin typeface="Calibri"/>
              </a:rPr>
              <a:t>7-day pending expiry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  stale applications clean themselves up with no background job needed.</a:t>
            </a:r>
          </a:p>
        </p:txBody>
      </p:sp>
      <p:pic>
        <p:nvPicPr>
          <p:cNvPr id="8" name="Picture 7" descr="loan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037" y="1691640"/>
            <a:ext cx="3676244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 i="0" spc="140">
                <a:solidFill>
                  <a:srgbClr val="3B6EA5"/>
                </a:solidFill>
                <a:latin typeface="Calibri"/>
              </a:rPr>
              <a:t>MEMBER 5 ·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05840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Calibri"/>
              </a:rPr>
              <a:t>Demo portion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5A6B7B"/>
                </a:solidFill>
                <a:latin typeface="Calibri"/>
              </a:rPr>
              <a:t>Loans &amp; lifecycle   ·   Speaker: [ Name 5 ]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222B35"/>
                </a:solidFill>
                <a:latin typeface="Calibri"/>
              </a:rPr>
              <a:t>We'll now switch to the recorded demonstration.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703320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3B6EA5"/>
                </a:solidFill>
                <a:latin typeface="Calibri"/>
              </a:rPr>
              <a:t>The demo will 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9663"/>
            <a:ext cx="10972800" cy="2103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S8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Apply (OTP) and payout; teller plus admin dual approval; repayment debits an account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F3A5F"/>
                </a:solidFill>
                <a:latin typeface="Calibri"/>
              </a:rPr>
              <a:t>S12   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Ctrl-C: the system.snapshot in psql closes the recording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Database design: one migration per module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8049" y="548640"/>
            <a:ext cx="1550822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8049" y="548640"/>
            <a:ext cx="1550822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All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chema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78" y="1554480"/>
            <a:ext cx="5181283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1600200"/>
            <a:ext cx="5349240" cy="3383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222B35"/>
                </a:solidFill>
                <a:latin typeface="Calibri"/>
              </a:rPr>
              <a:t>13 tables, normalised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  one migration per module, applied on startup.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222B35"/>
                </a:solidFill>
                <a:latin typeface="Calibri"/>
              </a:rPr>
              <a:t>Integrity in the schema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  CHECK balance &gt;= 0; UNIQUE(loan, role); triggers block staff-owned accounts and same-owner transfers.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222B35"/>
                </a:solidFill>
                <a:latin typeface="Calibri"/>
              </a:rPr>
              <a:t>Money is NUMERIC(18,2)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  a decimal type, never f64.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222B35"/>
                </a:solidFill>
                <a:latin typeface="Calibri"/>
              </a:rPr>
              <a:t>Safe and buildable</a:t>
            </a:r>
            <a:r>
              <a:rPr sz="1250" b="0" i="0">
                <a:solidFill>
                  <a:srgbClr val="5A6B7B"/>
                </a:solidFill>
                <a:latin typeface="Calibri"/>
              </a:rPr>
              <a:t>  SQLx parameterises every query; runtime queries need no live DB to compile.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120640"/>
            <a:ext cx="534924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 i="0">
                <a:solidFill>
                  <a:srgbClr val="5A6B7B"/>
                </a:solidFill>
                <a:latin typeface="Calibri"/>
              </a:rPr>
              <a:t>Node colour = owning module:  </a:t>
            </a:r>
            <a:r>
              <a:rPr sz="1100" b="0" i="0">
                <a:solidFill>
                  <a:srgbClr val="3B6EA5"/>
                </a:solidFill>
                <a:latin typeface="Calibri"/>
              </a:rPr>
              <a:t>● </a:t>
            </a:r>
            <a:r>
              <a:rPr sz="1100" b="0" i="0">
                <a:solidFill>
                  <a:srgbClr val="5A6B7B"/>
                </a:solidFill>
                <a:latin typeface="Calibri"/>
              </a:rPr>
              <a:t>Auth   </a:t>
            </a:r>
            <a:r>
              <a:rPr sz="1100" b="0" i="0">
                <a:solidFill>
                  <a:srgbClr val="2F855A"/>
                </a:solidFill>
                <a:latin typeface="Calibri"/>
              </a:rPr>
              <a:t>● </a:t>
            </a:r>
            <a:r>
              <a:rPr sz="1100" b="0" i="0">
                <a:solidFill>
                  <a:srgbClr val="5A6B7B"/>
                </a:solidFill>
                <a:latin typeface="Calibri"/>
              </a:rPr>
              <a:t>Accounts   </a:t>
            </a:r>
            <a:r>
              <a:rPr sz="1100" b="0" i="0">
                <a:solidFill>
                  <a:srgbClr val="B7791F"/>
                </a:solidFill>
                <a:latin typeface="Calibri"/>
              </a:rPr>
              <a:t>● </a:t>
            </a:r>
            <a:r>
              <a:rPr sz="1100" b="0" i="0">
                <a:solidFill>
                  <a:srgbClr val="5A6B7B"/>
                </a:solidFill>
                <a:latin typeface="Calibri"/>
              </a:rPr>
              <a:t>Transfers   </a:t>
            </a:r>
            <a:r>
              <a:rPr sz="1100" b="0" i="0">
                <a:solidFill>
                  <a:srgbClr val="6B46C1"/>
                </a:solidFill>
                <a:latin typeface="Calibri"/>
              </a:rPr>
              <a:t>● </a:t>
            </a:r>
            <a:r>
              <a:rPr sz="1100" b="0" i="0">
                <a:solidFill>
                  <a:srgbClr val="5A6B7B"/>
                </a:solidFill>
                <a:latin typeface="Calibri"/>
              </a:rPr>
              <a:t>Loans   </a:t>
            </a:r>
            <a:r>
              <a:rPr sz="1100" b="0" i="0">
                <a:solidFill>
                  <a:srgbClr val="5A6B7B"/>
                </a:solidFill>
                <a:latin typeface="Calibri"/>
              </a:rPr>
              <a:t>● </a:t>
            </a:r>
            <a:r>
              <a:rPr sz="1100" b="0" i="0">
                <a:solidFill>
                  <a:srgbClr val="5A6B7B"/>
                </a:solidFill>
                <a:latin typeface="Calibri"/>
              </a:rPr>
              <a:t>Shared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"/>
              </a:rPr>
              <a:t>Testing &amp; the invariants we prove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8049" y="548640"/>
            <a:ext cx="1550822" cy="42062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8049" y="548640"/>
            <a:ext cx="1550822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Speaker:  All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bentConnector3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22B35"/>
                </a:solidFill>
                <a:latin typeface="Calibri"/>
              </a:rPr>
              <a:t>Concurrency, 5 / $30</a:t>
            </a:r>
            <a:r>
              <a:rPr sz="1350" b="0" i="0">
                <a:solidFill>
                  <a:srgbClr val="5A6B7B"/>
                </a:solidFill>
                <a:latin typeface="Calibri"/>
              </a:rPr>
              <a:t>  five concurrent $10 transfers from $30: exactly 3 succeed, 2 rejected, $0 lost.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22B35"/>
                </a:solidFill>
                <a:latin typeface="Calibri"/>
              </a:rPr>
              <a:t>No double spend</a:t>
            </a:r>
            <a:r>
              <a:rPr sz="1350" b="0" i="0">
                <a:solidFill>
                  <a:srgbClr val="5A6B7B"/>
                </a:solidFill>
                <a:latin typeface="Calibri"/>
              </a:rPr>
              <a:t>  one transfer confirmed twice pays out exactly once.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22B35"/>
                </a:solidFill>
                <a:latin typeface="Calibri"/>
              </a:rPr>
              <a:t>Shutdown snapshot</a:t>
            </a:r>
            <a:r>
              <a:rPr sz="1350" b="0" i="0">
                <a:solidFill>
                  <a:srgbClr val="5A6B7B"/>
                </a:solidFill>
                <a:latin typeface="Calibri"/>
              </a:rPr>
              <a:t>  the graceful-shutdown system snapshot is written and verified.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22B35"/>
                </a:solidFill>
                <a:latin typeface="Calibri"/>
              </a:rPr>
              <a:t>Unit tests run anywhere</a:t>
            </a:r>
            <a:r>
              <a:rPr sz="1350" b="0" i="0">
                <a:solidFill>
                  <a:srgbClr val="5A6B7B"/>
                </a:solidFill>
                <a:latin typeface="Calibri"/>
              </a:rPr>
              <a:t>  interest mathematics; no database required.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22B35"/>
                </a:solidFill>
                <a:latin typeface="Calibri"/>
              </a:rPr>
              <a:t>Integration tests</a:t>
            </a:r>
            <a:r>
              <a:rPr sz="1350" b="0" i="0">
                <a:solidFill>
                  <a:srgbClr val="5A6B7B"/>
                </a:solidFill>
                <a:latin typeface="Calibri"/>
              </a:rPr>
              <a:t>  DB-gated; assert no overdraft, no loss, no double spend.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 i="0">
                <a:solidFill>
                  <a:srgbClr val="3B6EA5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22B35"/>
                </a:solidFill>
                <a:latin typeface="Calibri"/>
              </a:rPr>
              <a:t>Clickable proof</a:t>
            </a:r>
            <a:r>
              <a:rPr sz="1350" b="0" i="0">
                <a:solidFill>
                  <a:srgbClr val="5A6B7B"/>
                </a:solidFill>
                <a:latin typeface="Calibri"/>
              </a:rPr>
              <a:t>  the same race is reproducible in Admin then Race demo.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8A97A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455664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A97A6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51560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Safe · Accountable · Controlled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21031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 i="0">
                <a:solidFill>
                  <a:srgbClr val="CADCFC"/>
                </a:solidFill>
                <a:latin typeface="Calibri"/>
              </a:rPr>
              <a:t>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39" y="3017520"/>
            <a:ext cx="859536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 provably concurrency-safe money engine: no race, no loss, no double spend.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59"/>
            <a:ext cx="21031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 i="0">
                <a:solidFill>
                  <a:srgbClr val="CADCFC"/>
                </a:solidFill>
                <a:latin typeface="Calibri"/>
              </a:rPr>
              <a:t>Accountable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39" y="3794759"/>
            <a:ext cx="859536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Every action attributable in an append-only audit trail.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21031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 i="0">
                <a:solidFill>
                  <a:srgbClr val="CADCFC"/>
                </a:solidFill>
                <a:latin typeface="Calibri"/>
              </a:rPr>
              <a:t>Controlled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39" y="4572000"/>
            <a:ext cx="859536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Real bank controls: RBAC, maker-checker, four-eyes, out-of-band OTP.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100584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Thank you ·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